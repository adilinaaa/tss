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purl.oclc.org/ooxml/officeDocument/relationships/metadata/thumbnail" Target="docProps/thumbnail.jpeg"/><Relationship Id="rId1" Type="http://purl.oclc.org/ooxml/officeDocument/relationships/officeDocument" Target="ppt/presentation.xml"/><Relationship Id="rId4" Type="http://purl.oclc.org/ooxml/officeDocument/relationships/extendedProperties" Target="docProps/app.xml"/></Relationships>
</file>

<file path=ppt/presentation.xml><?xml version="1.0" encoding="utf-8"?>
<p:presentation xmlns:a="http://purl.oclc.org/ooxml/drawingml/main" xmlns:r="http://purl.oclc.org/ooxml/officeDocument/relationships" xmlns:p="http://purl.oclc.org/ooxml/presentationml/main" saveSubsetFonts="1" conformance="strict">
  <p:sldMasterIdLst>
    <p:sldMasterId id="2147483696" r:id="rId1"/>
  </p:sld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purl.oclc.org/ooxml/drawingml/main" xmlns:r="http://purl.oclc.org/ooxml/officeDocument/relationships" xmlns:p="http://purl.oclc.org/ooxml/presentationml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purl.oclc.org/ooxml/drawingml/main" def="{5C22544A-7EE6-4342-B048-85BDC9FD1C3A}"/>
</file>

<file path=ppt/viewProps.xml><?xml version="1.0" encoding="utf-8"?>
<p:viewPr xmlns:a="http://purl.oclc.org/ooxml/drawingml/main" xmlns:r="http://purl.oclc.org/ooxml/officeDocument/relationships" xmlns:p="http://purl.oclc.org/ooxml/presentationml/main">
  <p:normalViewPr>
    <p:restoredLeft sz="14.996%" autoAdjust="0"/>
    <p:restoredTop sz="94.66%"/>
  </p:normalViewPr>
  <p:slideViewPr>
    <p:cSldViewPr snapToGrid="0">
      <p:cViewPr varScale="1">
        <p:scale>
          <a:sx n="63" d="100"/>
          <a:sy n="63" d="100"/>
        </p:scale>
        <p:origin x="78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purl.oclc.org/ooxml/officeDocument/relationships/slide" Target="slides/slide7.xml"/><Relationship Id="rId13" Type="http://purl.oclc.org/ooxml/officeDocument/relationships/slide" Target="slides/slide12.xml"/><Relationship Id="rId18" Type="http://purl.oclc.org/ooxml/officeDocument/relationships/tableStyles" Target="tableStyles.xml"/><Relationship Id="rId3" Type="http://purl.oclc.org/ooxml/officeDocument/relationships/slide" Target="slides/slide2.xml"/><Relationship Id="rId7" Type="http://purl.oclc.org/ooxml/officeDocument/relationships/slide" Target="slides/slide6.xml"/><Relationship Id="rId12" Type="http://purl.oclc.org/ooxml/officeDocument/relationships/slide" Target="slides/slide11.xml"/><Relationship Id="rId17" Type="http://purl.oclc.org/ooxml/officeDocument/relationships/theme" Target="theme/theme1.xml"/><Relationship Id="rId2" Type="http://purl.oclc.org/ooxml/officeDocument/relationships/slide" Target="slides/slide1.xml"/><Relationship Id="rId16" Type="http://purl.oclc.org/ooxml/officeDocument/relationships/viewProps" Target="viewProps.xml"/><Relationship Id="rId1" Type="http://purl.oclc.org/ooxml/officeDocument/relationships/slideMaster" Target="slideMasters/slideMaster1.xml"/><Relationship Id="rId6" Type="http://purl.oclc.org/ooxml/officeDocument/relationships/slide" Target="slides/slide5.xml"/><Relationship Id="rId11" Type="http://purl.oclc.org/ooxml/officeDocument/relationships/slide" Target="slides/slide10.xml"/><Relationship Id="rId5" Type="http://purl.oclc.org/ooxml/officeDocument/relationships/slide" Target="slides/slide4.xml"/><Relationship Id="rId15" Type="http://purl.oclc.org/ooxml/officeDocument/relationships/presProps" Target="presProps.xml"/><Relationship Id="rId10" Type="http://purl.oclc.org/ooxml/officeDocument/relationships/slide" Target="slides/slide9.xml"/><Relationship Id="rId4" Type="http://purl.oclc.org/ooxml/officeDocument/relationships/slide" Target="slides/slide3.xml"/><Relationship Id="rId9" Type="http://purl.oclc.org/ooxml/officeDocument/relationships/slide" Target="slides/slide8.xml"/><Relationship Id="rId14" Type="http://purl.oclc.org/ooxml/officeDocument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slideLayout1.xml><?xml version="1.0" encoding="utf-8"?>
<p:sldLayout xmlns:a="http://purl.oclc.org/ooxml/drawingml/main" xmlns:r="http://purl.oclc.org/ooxml/officeDocument/relationships" xmlns:p="http://purl.oclc.org/ooxml/presentationml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%"/>
                    <a:lumOff val="35%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FE3D5-01EA-42FD-B250-411E28A6707C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F50CACA-9A5A-4771-955B-B6260B60D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182373"/>
      </p:ext>
    </p:extLst>
  </p:cSld>
  <p:clrMapOvr>
    <a:masterClrMapping/>
  </p:clrMapOvr>
</p:sldLayout>
</file>

<file path=ppt/slideLayouts/slideLayout2.xml><?xml version="1.0" encoding="utf-8"?>
<p:sldLayout xmlns:a="http://purl.oclc.org/ooxml/drawingml/main" xmlns:r="http://purl.oclc.org/ooxml/officeDocument/relationships" xmlns:p="http://purl.oclc.org/ooxml/presentationml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FE3D5-01EA-42FD-B250-411E28A6707C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0CACA-9A5A-4771-955B-B6260B60D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294119"/>
      </p:ext>
    </p:extLst>
  </p:cSld>
  <p:clrMapOvr>
    <a:masterClrMapping/>
  </p:clrMapOvr>
</p:sldLayout>
</file>

<file path=ppt/slideLayouts/slideLayout3.xml><?xml version="1.0" encoding="utf-8"?>
<p:sldLayout xmlns:a="http://purl.oclc.org/ooxml/drawingml/main" xmlns:r="http://purl.oclc.org/ooxml/officeDocument/relationships" xmlns:p="http://purl.oclc.org/ooxml/presentationml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%"/>
                    <a:lumOff val="35%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%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%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%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%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%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%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%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%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FE3D5-01EA-42FD-B250-411E28A6707C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F50CACA-9A5A-4771-955B-B6260B60D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460322"/>
      </p:ext>
    </p:extLst>
  </p:cSld>
  <p:clrMapOvr>
    <a:masterClrMapping/>
  </p:clrMapOvr>
</p:sldLayout>
</file>

<file path=ppt/slideLayouts/slideLayout4.xml><?xml version="1.0" encoding="utf-8"?>
<p:sldLayout xmlns:a="http://purl.oclc.org/ooxml/drawingml/main" xmlns:r="http://purl.oclc.org/ooxml/officeDocument/relationships" xmlns:p="http://purl.oclc.org/ooxml/presentationml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FE3D5-01EA-42FD-B250-411E28A6707C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F50CACA-9A5A-4771-955B-B6260B60D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561253"/>
      </p:ext>
    </p:extLst>
  </p:cSld>
  <p:clrMapOvr>
    <a:masterClrMapping/>
  </p:clrMapOvr>
</p:sldLayout>
</file>

<file path=ppt/slideLayouts/slideLayout5.xml><?xml version="1.0" encoding="utf-8"?>
<p:sldLayout xmlns:a="http://purl.oclc.org/ooxml/drawingml/main" xmlns:r="http://purl.oclc.org/ooxml/officeDocument/relationships" xmlns:p="http://purl.oclc.org/ooxml/presentationml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FE3D5-01EA-42FD-B250-411E28A6707C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F50CACA-9A5A-4771-955B-B6260B60D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304840"/>
      </p:ext>
    </p:extLst>
  </p:cSld>
  <p:clrMapOvr>
    <a:masterClrMapping/>
  </p:clrMapOvr>
</p:sldLayout>
</file>

<file path=ppt/slideLayouts/slideLayout6.xml><?xml version="1.0" encoding="utf-8"?>
<p:sldLayout xmlns:a="http://purl.oclc.org/ooxml/drawingml/main" xmlns:r="http://purl.oclc.org/ooxml/officeDocument/relationships" xmlns:p="http://purl.oclc.org/ooxml/presentationml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FE3D5-01EA-42FD-B250-411E28A6707C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0CACA-9A5A-4771-955B-B6260B60D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955756"/>
      </p:ext>
    </p:extLst>
  </p:cSld>
  <p:clrMapOvr>
    <a:masterClrMapping/>
  </p:clrMapOvr>
</p:sldLayout>
</file>

<file path=ppt/slideLayouts/slideLayout7.xml><?xml version="1.0" encoding="utf-8"?>
<p:sldLayout xmlns:a="http://purl.oclc.org/ooxml/drawingml/main" xmlns:r="http://purl.oclc.org/ooxml/officeDocument/relationships" xmlns:p="http://purl.oclc.org/ooxml/presentationml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FE3D5-01EA-42FD-B250-411E28A6707C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0CACA-9A5A-4771-955B-B6260B60D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162100"/>
      </p:ext>
    </p:extLst>
  </p:cSld>
  <p:clrMapOvr>
    <a:masterClrMapping/>
  </p:clrMapOvr>
</p:sldLayout>
</file>

<file path=ppt/slideLayouts/slideLayout8.xml><?xml version="1.0" encoding="utf-8"?>
<p:sldLayout xmlns:a="http://purl.oclc.org/ooxml/drawingml/main" xmlns:r="http://purl.oclc.org/ooxml/officeDocument/relationships" xmlns:p="http://purl.oclc.org/ooxml/presentationml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FE3D5-01EA-42FD-B250-411E28A6707C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0CACA-9A5A-4771-955B-B6260B60D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48113"/>
      </p:ext>
    </p:extLst>
  </p:cSld>
  <p:clrMapOvr>
    <a:masterClrMapping/>
  </p:clrMapOvr>
</p:sldLayout>
</file>

<file path=ppt/slideLayouts/slideLayout9.xml><?xml version="1.0" encoding="utf-8"?>
<p:sldLayout xmlns:a="http://purl.oclc.org/ooxml/drawingml/main" xmlns:r="http://purl.oclc.org/ooxml/officeDocument/relationships" xmlns:p="http://purl.oclc.org/ooxml/presentationml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FE3D5-01EA-42FD-B250-411E28A6707C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F50CACA-9A5A-4771-955B-B6260B60D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400746"/>
      </p:ext>
    </p:extLst>
  </p:cSld>
  <p:clrMapOvr>
    <a:masterClrMapping/>
  </p:clrMapOvr>
</p:sldLayout>
</file>

<file path=ppt/slideLayouts/slideLayout10.xml><?xml version="1.0" encoding="utf-8"?>
<p:sldLayout xmlns:a="http://purl.oclc.org/ooxml/drawingml/main" xmlns:r="http://purl.oclc.org/ooxml/officeDocument/relationships" xmlns:p="http://purl.oclc.org/ooxml/presentationml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%"/>
                    <a:lumOff val="35%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%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%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%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%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%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%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%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%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FE3D5-01EA-42FD-B250-411E28A6707C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F50CACA-9A5A-4771-955B-B6260B60D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279757"/>
      </p:ext>
    </p:extLst>
  </p:cSld>
  <p:clrMapOvr>
    <a:masterClrMapping/>
  </p:clrMapOvr>
</p:sldLayout>
</file>

<file path=ppt/slideLayouts/slideLayout11.xml><?xml version="1.0" encoding="utf-8"?>
<p:sldLayout xmlns:a="http://purl.oclc.org/ooxml/drawingml/main" xmlns:r="http://purl.oclc.org/ooxml/officeDocument/relationships" xmlns:p="http://purl.oclc.org/ooxml/presentationml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%"/>
                    <a:lumOff val="50%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%"/>
                    <a:lumOff val="35%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%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%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%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%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%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%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%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%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FE3D5-01EA-42FD-B250-411E28A6707C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F50CACA-9A5A-4771-955B-B6260B60D64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%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%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71480117"/>
      </p:ext>
    </p:extLst>
  </p:cSld>
  <p:clrMapOvr>
    <a:masterClrMapping/>
  </p:clrMapOvr>
</p:sldLayout>
</file>

<file path=ppt/slideLayouts/slideLayout12.xml><?xml version="1.0" encoding="utf-8"?>
<p:sldLayout xmlns:a="http://purl.oclc.org/ooxml/drawingml/main" xmlns:r="http://purl.oclc.org/ooxml/officeDocument/relationships" xmlns:p="http://purl.oclc.org/ooxml/presentationml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%"/>
                    <a:lumOff val="35%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FE3D5-01EA-42FD-B250-411E28A6707C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F50CACA-9A5A-4771-955B-B6260B60D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500571"/>
      </p:ext>
    </p:extLst>
  </p:cSld>
  <p:clrMapOvr>
    <a:masterClrMapping/>
  </p:clrMapOvr>
</p:sldLayout>
</file>

<file path=ppt/slideLayouts/slideLayout13.xml><?xml version="1.0" encoding="utf-8"?>
<p:sldLayout xmlns:a="http://purl.oclc.org/ooxml/drawingml/main" xmlns:r="http://purl.oclc.org/ooxml/officeDocument/relationships" xmlns:p="http://purl.oclc.org/ooxml/presentationml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%"/>
                    <a:lumOff val="35%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FE3D5-01EA-42FD-B250-411E28A6707C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F50CACA-9A5A-4771-955B-B6260B60D644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%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%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00268896"/>
      </p:ext>
    </p:extLst>
  </p:cSld>
  <p:clrMapOvr>
    <a:masterClrMapping/>
  </p:clrMapOvr>
</p:sldLayout>
</file>

<file path=ppt/slideLayouts/slideLayout14.xml><?xml version="1.0" encoding="utf-8"?>
<p:sldLayout xmlns:a="http://purl.oclc.org/ooxml/drawingml/main" xmlns:r="http://purl.oclc.org/ooxml/officeDocument/relationships" xmlns:p="http://purl.oclc.org/ooxml/presentationml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%"/>
                    <a:lumOff val="35%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FE3D5-01EA-42FD-B250-411E28A6707C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F50CACA-9A5A-4771-955B-B6260B60D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960842"/>
      </p:ext>
    </p:extLst>
  </p:cSld>
  <p:clrMapOvr>
    <a:masterClrMapping/>
  </p:clrMapOvr>
</p:sldLayout>
</file>

<file path=ppt/slideLayouts/slideLayout15.xml><?xml version="1.0" encoding="utf-8"?>
<p:sldLayout xmlns:a="http://purl.oclc.org/ooxml/drawingml/main" xmlns:r="http://purl.oclc.org/ooxml/officeDocument/relationships" xmlns:p="http://purl.oclc.org/ooxml/presentationml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FE3D5-01EA-42FD-B250-411E28A6707C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0CACA-9A5A-4771-955B-B6260B60D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747288"/>
      </p:ext>
    </p:extLst>
  </p:cSld>
  <p:clrMapOvr>
    <a:masterClrMapping/>
  </p:clrMapOvr>
</p:sldLayout>
</file>

<file path=ppt/slideLayouts/slideLayout16.xml><?xml version="1.0" encoding="utf-8"?>
<p:sldLayout xmlns:a="http://purl.oclc.org/ooxml/drawingml/main" xmlns:r="http://purl.oclc.org/ooxml/officeDocument/relationships" xmlns:p="http://purl.oclc.org/ooxml/presentationml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FE3D5-01EA-42FD-B250-411E28A6707C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0CACA-9A5A-4771-955B-B6260B60D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664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purl.oclc.org/ooxml/officeDocument/relationships/slideLayout" Target="../slideLayouts/slideLayout8.xml"/><Relationship Id="rId13" Type="http://purl.oclc.org/ooxml/officeDocument/relationships/slideLayout" Target="../slideLayouts/slideLayout13.xml"/><Relationship Id="rId3" Type="http://purl.oclc.org/ooxml/officeDocument/relationships/slideLayout" Target="../slideLayouts/slideLayout3.xml"/><Relationship Id="rId7" Type="http://purl.oclc.org/ooxml/officeDocument/relationships/slideLayout" Target="../slideLayouts/slideLayout7.xml"/><Relationship Id="rId12" Type="http://purl.oclc.org/ooxml/officeDocument/relationships/slideLayout" Target="../slideLayouts/slideLayout12.xml"/><Relationship Id="rId17" Type="http://purl.oclc.org/ooxml/officeDocument/relationships/theme" Target="../theme/theme1.xml"/><Relationship Id="rId2" Type="http://purl.oclc.org/ooxml/officeDocument/relationships/slideLayout" Target="../slideLayouts/slideLayout2.xml"/><Relationship Id="rId16" Type="http://purl.oclc.org/ooxml/officeDocument/relationships/slideLayout" Target="../slideLayouts/slideLayout16.xml"/><Relationship Id="rId1" Type="http://purl.oclc.org/ooxml/officeDocument/relationships/slideLayout" Target="../slideLayouts/slideLayout1.xml"/><Relationship Id="rId6" Type="http://purl.oclc.org/ooxml/officeDocument/relationships/slideLayout" Target="../slideLayouts/slideLayout6.xml"/><Relationship Id="rId11" Type="http://purl.oclc.org/ooxml/officeDocument/relationships/slideLayout" Target="../slideLayouts/slideLayout11.xml"/><Relationship Id="rId5" Type="http://purl.oclc.org/ooxml/officeDocument/relationships/slideLayout" Target="../slideLayouts/slideLayout5.xml"/><Relationship Id="rId15" Type="http://purl.oclc.org/ooxml/officeDocument/relationships/slideLayout" Target="../slideLayouts/slideLayout15.xml"/><Relationship Id="rId10" Type="http://purl.oclc.org/ooxml/officeDocument/relationships/slideLayout" Target="../slideLayouts/slideLayout10.xml"/><Relationship Id="rId4" Type="http://purl.oclc.org/ooxml/officeDocument/relationships/slideLayout" Target="../slideLayouts/slideLayout4.xml"/><Relationship Id="rId9" Type="http://purl.oclc.org/ooxml/officeDocument/relationships/slideLayout" Target="../slideLayouts/slideLayout9.xml"/><Relationship Id="rId14" Type="http://purl.oclc.org/ooxml/officeDocument/relationships/slideLayout" Target="../slideLayouts/slideLayout14.xml"/></Relationships>
</file>

<file path=ppt/slideMasters/slideMaster1.xml><?xml version="1.0" encoding="utf-8"?>
<p:sldMaster xmlns:a="http://purl.oclc.org/ooxml/drawingml/main" xmlns:r="http://purl.oclc.org/ooxml/officeDocument/relationships" xmlns:p="http://purl.oclc.org/ooxml/presentationml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%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%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%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%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%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%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%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%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%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%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%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%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%"/>
                  </a:schemeClr>
                </a:solidFill>
              </a:defRPr>
            </a:lvl1pPr>
          </a:lstStyle>
          <a:p>
            <a:fld id="{8C2FE3D5-01EA-42FD-B250-411E28A6707C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%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F50CACA-9A5A-4771-955B-B6260B60D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447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</p:sldLayoutIdLst>
  <p:txStyles>
    <p:titleStyle>
      <a:lvl1pPr algn="l" defTabSz="457200" rtl="0" eaLnBrk="1" latinLnBrk="0" hangingPunct="1">
        <a:spcBef>
          <a:spcPct val="0%"/>
        </a:spcBef>
        <a:buNone/>
        <a:defRPr sz="3600" kern="1200">
          <a:solidFill>
            <a:schemeClr val="tx1">
              <a:lumMod val="85%"/>
              <a:lumOff val="15%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%"/>
              <a:lumOff val="25%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%"/>
              <a:lumOff val="25%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%"/>
              <a:lumOff val="25%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%"/>
              <a:lumOff val="25%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%"/>
              <a:lumOff val="25%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%"/>
              <a:lumOff val="25%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%"/>
              <a:lumOff val="25%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%"/>
              <a:lumOff val="25%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%"/>
              <a:lumOff val="25%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7.xml"/></Relationships>
</file>

<file path=ppt/slides/slide1.xml><?xml version="1.0" encoding="utf-8"?>
<p:sld xmlns:a="http://purl.oclc.org/ooxml/drawingml/main" xmlns:r="http://purl.oclc.org/ooxml/officeDocument/relationships" xmlns:p="http://purl.oclc.org/ooxml/presentationml/main">
  <p:cSld>
    <p:bg>
      <p:bgPr>
        <a:gradFill rotWithShape="1">
          <a:gsLst>
            <a:gs pos="0%">
              <a:schemeClr val="bg2">
                <a:tint val="90%"/>
                <a:satMod val="92%"/>
                <a:lumMod val="120%"/>
              </a:schemeClr>
            </a:gs>
            <a:gs pos="0%">
              <a:srgbClr val="00B050"/>
            </a:gs>
          </a:gsLst>
          <a:path path="circle">
            <a:fillToRect l="50%" t="50%" r="100%" b="100%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0EC54157-4CDC-DA2F-41D7-BD9B87251FBF}"/>
              </a:ext>
            </a:extLst>
          </p:cNvPr>
          <p:cNvSpPr/>
          <p:nvPr/>
        </p:nvSpPr>
        <p:spPr>
          <a:xfrm>
            <a:off x="594360" y="6364224"/>
            <a:ext cx="10972800" cy="0"/>
          </a:xfrm>
          <a:prstGeom prst="line">
            <a:avLst/>
          </a:prstGeom>
          <a:noFill/>
          <a:ln w="15875">
            <a:solidFill>
              <a:srgbClr val="37D6C7">
                <a:alpha val="75%"/>
              </a:srgbClr>
            </a:solidFill>
            <a:prstDash val="solid"/>
          </a:ln>
        </p:spPr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016A1237-C7AB-709A-0659-9B0ABBC7C6BD}"/>
              </a:ext>
            </a:extLst>
          </p:cNvPr>
          <p:cNvSpPr/>
          <p:nvPr/>
        </p:nvSpPr>
        <p:spPr>
          <a:xfrm>
            <a:off x="804672" y="932688"/>
            <a:ext cx="1353312" cy="0"/>
          </a:xfrm>
          <a:prstGeom prst="line">
            <a:avLst/>
          </a:prstGeom>
          <a:noFill/>
          <a:ln w="63500">
            <a:solidFill>
              <a:srgbClr val="37D6C7"/>
            </a:solidFill>
            <a:prstDash val="solid"/>
          </a:ln>
        </p:spPr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C34FB841-B434-DF1D-7918-78F66D16678F}"/>
              </a:ext>
            </a:extLst>
          </p:cNvPr>
          <p:cNvSpPr/>
          <p:nvPr/>
        </p:nvSpPr>
        <p:spPr>
          <a:xfrm>
            <a:off x="749808" y="1234440"/>
            <a:ext cx="6355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REZOLVAREA ECUAȚIEI</a:t>
            </a:r>
            <a:endParaRPr lang="en-US" sz="4100" dirty="0"/>
          </a:p>
          <a:p>
            <a:pPr marL="0" indent="0" algn="l">
              <a:buNone/>
            </a:pPr>
            <a:r>
              <a:rPr lang="en-US" sz="4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GRADUL II</a:t>
            </a:r>
            <a:endParaRPr lang="en-US" sz="41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545FDE37-7208-0E52-02A9-95C09C9F3FB3}"/>
              </a:ext>
            </a:extLst>
          </p:cNvPr>
          <p:cNvSpPr/>
          <p:nvPr/>
        </p:nvSpPr>
        <p:spPr>
          <a:xfrm>
            <a:off x="786384" y="2871216"/>
            <a:ext cx="52120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7F6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Testarea Sistemelor Software</a:t>
            </a:r>
            <a:endParaRPr lang="en-US" sz="19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482F11B1-EF97-AEA9-8800-70144F9A9008}"/>
              </a:ext>
            </a:extLst>
          </p:cNvPr>
          <p:cNvSpPr/>
          <p:nvPr/>
        </p:nvSpPr>
        <p:spPr>
          <a:xfrm>
            <a:off x="786384" y="5303520"/>
            <a:ext cx="65836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D9EA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Biliuță Elisa-Adelina · Marcovici Anamaria · Nedelescu George-Eduard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D9EA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Universitatea din București · FMI · Grupa 311</a:t>
            </a:r>
            <a:endParaRPr lang="en-US" sz="130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B70F8BEB-8ED6-25B3-7769-439EC8A45525}"/>
              </a:ext>
            </a:extLst>
          </p:cNvPr>
          <p:cNvSpPr/>
          <p:nvPr/>
        </p:nvSpPr>
        <p:spPr>
          <a:xfrm>
            <a:off x="7388352" y="960120"/>
            <a:ext cx="3749040" cy="4617720"/>
          </a:xfrm>
          <a:prstGeom prst="roundRect">
            <a:avLst>
              <a:gd name="adj" fmla="val 1951"/>
            </a:avLst>
          </a:prstGeom>
          <a:solidFill>
            <a:srgbClr val="FFFFFF">
              <a:alpha val="95%"/>
            </a:srgbClr>
          </a:solidFill>
          <a:ln w="15240">
            <a:solidFill>
              <a:srgbClr val="37D6C7"/>
            </a:solidFill>
            <a:prstDash val="solid"/>
          </a:ln>
        </p:spPr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51406A4A-28ED-E0DE-24C1-0576482C3444}"/>
              </a:ext>
            </a:extLst>
          </p:cNvPr>
          <p:cNvSpPr/>
          <p:nvPr/>
        </p:nvSpPr>
        <p:spPr>
          <a:xfrm>
            <a:off x="7726680" y="1371600"/>
            <a:ext cx="3090672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ax² + bx + c = 0</a:t>
            </a:r>
            <a:endParaRPr lang="en-US" sz="28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9EA96025-B653-1905-E741-428B0677CDEC}"/>
              </a:ext>
            </a:extLst>
          </p:cNvPr>
          <p:cNvSpPr/>
          <p:nvPr/>
        </p:nvSpPr>
        <p:spPr>
          <a:xfrm>
            <a:off x="7955280" y="2130552"/>
            <a:ext cx="26517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46B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= b² − 4ac</a:t>
            </a:r>
            <a:endParaRPr lang="en-US" sz="220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D7B3415E-870D-D49C-1806-C8FFFA5741BC}"/>
              </a:ext>
            </a:extLst>
          </p:cNvPr>
          <p:cNvSpPr/>
          <p:nvPr/>
        </p:nvSpPr>
        <p:spPr>
          <a:xfrm>
            <a:off x="7955280" y="292608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E8F1FF"/>
          </a:solidFill>
          <a:ln w="12700">
            <a:solidFill>
              <a:srgbClr val="E8F1FF">
                <a:alpha val="0%"/>
              </a:srgbClr>
            </a:solidFill>
            <a:prstDash val="solid"/>
          </a:ln>
        </p:spPr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BB708D91-7ECF-3010-C297-3A08D659477A}"/>
              </a:ext>
            </a:extLst>
          </p:cNvPr>
          <p:cNvSpPr/>
          <p:nvPr/>
        </p:nvSpPr>
        <p:spPr>
          <a:xfrm>
            <a:off x="8028432" y="2953512"/>
            <a:ext cx="2505456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&gt; 0  →  două rădăcini reale</a:t>
            </a:r>
            <a:endParaRPr lang="en-US" sz="120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68F54160-1AF2-9C2A-15BE-8ED1931CB516}"/>
              </a:ext>
            </a:extLst>
          </p:cNvPr>
          <p:cNvSpPr/>
          <p:nvPr/>
        </p:nvSpPr>
        <p:spPr>
          <a:xfrm>
            <a:off x="7955280" y="3511296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E9FFF8"/>
          </a:solidFill>
          <a:ln w="12700">
            <a:solidFill>
              <a:srgbClr val="E9FFF8">
                <a:alpha val="0%"/>
              </a:srgbClr>
            </a:solidFill>
            <a:prstDash val="solid"/>
          </a:ln>
        </p:spPr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A632ED0C-FDFC-E14A-B015-415C709DF4B7}"/>
              </a:ext>
            </a:extLst>
          </p:cNvPr>
          <p:cNvSpPr/>
          <p:nvPr/>
        </p:nvSpPr>
        <p:spPr>
          <a:xfrm>
            <a:off x="8028432" y="3538728"/>
            <a:ext cx="2505456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= 0  →  rădăcină dublă</a:t>
            </a:r>
            <a:endParaRPr lang="en-US" sz="1200" dirty="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CF9D2B7F-BC12-3351-FDA3-676A4B47682A}"/>
              </a:ext>
            </a:extLst>
          </p:cNvPr>
          <p:cNvSpPr/>
          <p:nvPr/>
        </p:nvSpPr>
        <p:spPr>
          <a:xfrm>
            <a:off x="7955280" y="4096512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FFF5D9"/>
          </a:solidFill>
          <a:ln w="12700">
            <a:solidFill>
              <a:srgbClr val="FFF5D9">
                <a:alpha val="0%"/>
              </a:srgbClr>
            </a:solidFill>
            <a:prstDash val="solid"/>
          </a:ln>
        </p:spPr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FBB8C840-A7E2-0741-74A6-A5AA2652C869}"/>
              </a:ext>
            </a:extLst>
          </p:cNvPr>
          <p:cNvSpPr/>
          <p:nvPr/>
        </p:nvSpPr>
        <p:spPr>
          <a:xfrm>
            <a:off x="8028432" y="4123944"/>
            <a:ext cx="2505456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&lt; 0  →  rădăcini complexe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58076309"/>
      </p:ext>
    </p:extLst>
  </p:cSld>
  <p:clrMapOvr>
    <a:masterClrMapping/>
  </p:clrMapOvr>
</p:sld>
</file>

<file path=ppt/slides/slide2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F0432C5-12FD-C8A3-5B82-12A811D02399}"/>
              </a:ext>
            </a:extLst>
          </p:cNvPr>
          <p:cNvSpPr/>
          <p:nvPr/>
        </p:nvSpPr>
        <p:spPr>
          <a:xfrm>
            <a:off x="594360" y="6364224"/>
            <a:ext cx="10972800" cy="0"/>
          </a:xfrm>
          <a:prstGeom prst="line">
            <a:avLst/>
          </a:prstGeom>
          <a:noFill/>
          <a:ln w="15875">
            <a:solidFill>
              <a:srgbClr val="246BFE">
                <a:alpha val="75%"/>
              </a:srgbClr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7F52214-C060-7F20-2A01-75973E9AEDBF}"/>
              </a:ext>
            </a:extLst>
          </p:cNvPr>
          <p:cNvSpPr/>
          <p:nvPr/>
        </p:nvSpPr>
        <p:spPr>
          <a:xfrm>
            <a:off x="667512" y="310896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246B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TRASEUL LOGIC</a:t>
            </a:r>
            <a:endParaRPr lang="en-US" sz="93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388D7F5-8DF9-1FF7-8AD3-3497CDCC4666}"/>
              </a:ext>
            </a:extLst>
          </p:cNvPr>
          <p:cNvSpPr/>
          <p:nvPr/>
        </p:nvSpPr>
        <p:spPr>
          <a:xfrm>
            <a:off x="640080" y="786384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5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Cum este construită prezentarea</a:t>
            </a:r>
            <a:endParaRPr lang="en-US" sz="30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CA4BAE4-2424-841F-1AF6-E45F7E6BD41C}"/>
              </a:ext>
            </a:extLst>
          </p:cNvPr>
          <p:cNvSpPr/>
          <p:nvPr/>
        </p:nvSpPr>
        <p:spPr>
          <a:xfrm>
            <a:off x="713232" y="1417320"/>
            <a:ext cx="108813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În loc să citim raportul, urmărim firul: ce risc avem, ce tehnică îl acoperă și ce rezultat am obținut.</a:t>
            </a:r>
            <a:endParaRPr lang="en-US" sz="182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A958290-0598-C2FF-61CB-297FFF74992F}"/>
              </a:ext>
            </a:extLst>
          </p:cNvPr>
          <p:cNvSpPr/>
          <p:nvPr/>
        </p:nvSpPr>
        <p:spPr>
          <a:xfrm>
            <a:off x="1664208" y="2743200"/>
            <a:ext cx="1051560" cy="0"/>
          </a:xfrm>
          <a:prstGeom prst="line">
            <a:avLst/>
          </a:prstGeom>
          <a:noFill/>
          <a:ln w="17780">
            <a:solidFill>
              <a:srgbClr val="246BFE"/>
            </a:solidFill>
            <a:prstDash val="solid"/>
            <a:headEnd type="none"/>
            <a:tailEnd type="triangle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1844103-D2A1-9FB0-30DE-299C1B98A9B1}"/>
              </a:ext>
            </a:extLst>
          </p:cNvPr>
          <p:cNvSpPr/>
          <p:nvPr/>
        </p:nvSpPr>
        <p:spPr>
          <a:xfrm>
            <a:off x="3630168" y="2743200"/>
            <a:ext cx="1051560" cy="0"/>
          </a:xfrm>
          <a:prstGeom prst="line">
            <a:avLst/>
          </a:prstGeom>
          <a:noFill/>
          <a:ln w="17780">
            <a:solidFill>
              <a:srgbClr val="246BFE"/>
            </a:solidFill>
            <a:prstDash val="solid"/>
            <a:headEnd type="none"/>
            <a:tailEnd type="triangle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AAD0E65-3506-7F18-9AD1-A6636808CF2C}"/>
              </a:ext>
            </a:extLst>
          </p:cNvPr>
          <p:cNvSpPr/>
          <p:nvPr/>
        </p:nvSpPr>
        <p:spPr>
          <a:xfrm>
            <a:off x="5596128" y="2743200"/>
            <a:ext cx="1051560" cy="0"/>
          </a:xfrm>
          <a:prstGeom prst="line">
            <a:avLst/>
          </a:prstGeom>
          <a:noFill/>
          <a:ln w="17780">
            <a:solidFill>
              <a:srgbClr val="246BFE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4E600E3-5B8A-2FFE-80B3-477943FD5370}"/>
              </a:ext>
            </a:extLst>
          </p:cNvPr>
          <p:cNvSpPr/>
          <p:nvPr/>
        </p:nvSpPr>
        <p:spPr>
          <a:xfrm>
            <a:off x="7562088" y="2743200"/>
            <a:ext cx="1051560" cy="0"/>
          </a:xfrm>
          <a:prstGeom prst="line">
            <a:avLst/>
          </a:prstGeom>
          <a:noFill/>
          <a:ln w="17780">
            <a:solidFill>
              <a:srgbClr val="0E7490"/>
            </a:solidFill>
            <a:prstDash val="solid"/>
            <a:headEnd type="none"/>
            <a:tailEnd type="triangle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AD71916-0C9B-3A50-C91D-AE1A0116FAE9}"/>
              </a:ext>
            </a:extLst>
          </p:cNvPr>
          <p:cNvSpPr/>
          <p:nvPr/>
        </p:nvSpPr>
        <p:spPr>
          <a:xfrm>
            <a:off x="9528048" y="2743200"/>
            <a:ext cx="960120" cy="0"/>
          </a:xfrm>
          <a:prstGeom prst="line">
            <a:avLst/>
          </a:prstGeom>
          <a:noFill/>
          <a:ln w="17780">
            <a:solidFill>
              <a:srgbClr val="0E7490"/>
            </a:solidFill>
            <a:prstDash val="solid"/>
            <a:headEnd type="none"/>
            <a:tailEnd type="triangle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3BCBC4A-9E41-EA4C-934D-20123EC1EF0B}"/>
              </a:ext>
            </a:extLst>
          </p:cNvPr>
          <p:cNvSpPr/>
          <p:nvPr/>
        </p:nvSpPr>
        <p:spPr>
          <a:xfrm>
            <a:off x="594360" y="2304288"/>
            <a:ext cx="822960" cy="822960"/>
          </a:xfrm>
          <a:prstGeom prst="ellipse">
            <a:avLst/>
          </a:prstGeom>
          <a:solidFill>
            <a:srgbClr val="246BFE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94988E2-8F5D-E367-F93A-1D2C10ECC75E}"/>
              </a:ext>
            </a:extLst>
          </p:cNvPr>
          <p:cNvSpPr/>
          <p:nvPr/>
        </p:nvSpPr>
        <p:spPr>
          <a:xfrm>
            <a:off x="777240" y="2468880"/>
            <a:ext cx="457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%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1669B27-3DD1-3238-1481-AEA0BF180B7B}"/>
              </a:ext>
            </a:extLst>
          </p:cNvPr>
          <p:cNvSpPr/>
          <p:nvPr/>
        </p:nvSpPr>
        <p:spPr>
          <a:xfrm>
            <a:off x="292608" y="3401568"/>
            <a:ext cx="142646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07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Problemă</a:t>
            </a:r>
            <a:endParaRPr lang="en-US" sz="143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DAAB294-98FD-7CB2-4C31-75F0D6D7AF56}"/>
              </a:ext>
            </a:extLst>
          </p:cNvPr>
          <p:cNvSpPr/>
          <p:nvPr/>
        </p:nvSpPr>
        <p:spPr>
          <a:xfrm>
            <a:off x="164592" y="3749040"/>
            <a:ext cx="168249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rezolvă</a:t>
            </a:r>
            <a:endParaRPr lang="en-US" sz="108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7F0E569B-AD24-2971-C0B0-375D292416B4}"/>
              </a:ext>
            </a:extLst>
          </p:cNvPr>
          <p:cNvSpPr/>
          <p:nvPr/>
        </p:nvSpPr>
        <p:spPr>
          <a:xfrm>
            <a:off x="2560320" y="2304288"/>
            <a:ext cx="822960" cy="822960"/>
          </a:xfrm>
          <a:prstGeom prst="ellipse">
            <a:avLst/>
          </a:prstGeom>
          <a:solidFill>
            <a:srgbClr val="E45756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51A3557-012D-9C44-0DE0-D1FE294CE70A}"/>
              </a:ext>
            </a:extLst>
          </p:cNvPr>
          <p:cNvSpPr/>
          <p:nvPr/>
        </p:nvSpPr>
        <p:spPr>
          <a:xfrm>
            <a:off x="2743200" y="2468880"/>
            <a:ext cx="457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%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A60ED82-0649-2828-0C73-D96804A470D6}"/>
              </a:ext>
            </a:extLst>
          </p:cNvPr>
          <p:cNvSpPr/>
          <p:nvPr/>
        </p:nvSpPr>
        <p:spPr>
          <a:xfrm>
            <a:off x="2258568" y="3401568"/>
            <a:ext cx="142646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07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Riscuri</a:t>
            </a:r>
            <a:endParaRPr lang="en-US" sz="143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9083F9E-6FBA-9D7E-7AC4-4B9DF3D7C1F7}"/>
              </a:ext>
            </a:extLst>
          </p:cNvPr>
          <p:cNvSpPr/>
          <p:nvPr/>
        </p:nvSpPr>
        <p:spPr>
          <a:xfrm>
            <a:off x="2130552" y="3749040"/>
            <a:ext cx="168249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 se poate rupe</a:t>
            </a:r>
            <a:endParaRPr lang="en-US" sz="108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448A18BE-F7B1-F1C5-5B91-BA067AFCCF17}"/>
              </a:ext>
            </a:extLst>
          </p:cNvPr>
          <p:cNvSpPr/>
          <p:nvPr/>
        </p:nvSpPr>
        <p:spPr>
          <a:xfrm>
            <a:off x="4526280" y="2304288"/>
            <a:ext cx="822960" cy="822960"/>
          </a:xfrm>
          <a:prstGeom prst="ellipse">
            <a:avLst/>
          </a:prstGeom>
          <a:solidFill>
            <a:srgbClr val="37D6C7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D5E6B62-6D6B-E202-0B6D-A2AE500B84AA}"/>
              </a:ext>
            </a:extLst>
          </p:cNvPr>
          <p:cNvSpPr/>
          <p:nvPr/>
        </p:nvSpPr>
        <p:spPr>
          <a:xfrm>
            <a:off x="4709160" y="2468880"/>
            <a:ext cx="457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%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56FABEF-10B9-616D-51F0-AE6F3868A191}"/>
              </a:ext>
            </a:extLst>
          </p:cNvPr>
          <p:cNvSpPr/>
          <p:nvPr/>
        </p:nvSpPr>
        <p:spPr>
          <a:xfrm>
            <a:off x="4224528" y="3401568"/>
            <a:ext cx="142646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07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Black Box</a:t>
            </a:r>
            <a:endParaRPr lang="en-US" sz="143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3CABB5B-EA0B-AF1D-2182-F501786A9B83}"/>
              </a:ext>
            </a:extLst>
          </p:cNvPr>
          <p:cNvSpPr/>
          <p:nvPr/>
        </p:nvSpPr>
        <p:spPr>
          <a:xfrm>
            <a:off x="4096512" y="3749040"/>
            <a:ext cx="168249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· AVF · PC</a:t>
            </a:r>
            <a:endParaRPr lang="en-US" sz="108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73DCBB78-8D3B-982E-A22A-F5585659A8A9}"/>
              </a:ext>
            </a:extLst>
          </p:cNvPr>
          <p:cNvSpPr/>
          <p:nvPr/>
        </p:nvSpPr>
        <p:spPr>
          <a:xfrm>
            <a:off x="6492240" y="2304288"/>
            <a:ext cx="822960" cy="822960"/>
          </a:xfrm>
          <a:prstGeom prst="ellipse">
            <a:avLst/>
          </a:prstGeom>
          <a:solidFill>
            <a:srgbClr val="6D5DFE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397D720-BE38-2048-9E56-A63EBFE43619}"/>
              </a:ext>
            </a:extLst>
          </p:cNvPr>
          <p:cNvSpPr/>
          <p:nvPr/>
        </p:nvSpPr>
        <p:spPr>
          <a:xfrm>
            <a:off x="6675120" y="2468880"/>
            <a:ext cx="457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%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9794CCFA-314F-0607-C0FD-8ABB62F180FF}"/>
              </a:ext>
            </a:extLst>
          </p:cNvPr>
          <p:cNvSpPr/>
          <p:nvPr/>
        </p:nvSpPr>
        <p:spPr>
          <a:xfrm>
            <a:off x="6190488" y="3401568"/>
            <a:ext cx="142646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07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White Box</a:t>
            </a:r>
            <a:endParaRPr lang="en-US" sz="143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C4600F0-26D7-2FFC-CD9D-228E89A4476C}"/>
              </a:ext>
            </a:extLst>
          </p:cNvPr>
          <p:cNvSpPr/>
          <p:nvPr/>
        </p:nvSpPr>
        <p:spPr>
          <a:xfrm>
            <a:off x="6062472" y="3749040"/>
            <a:ext cx="168249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CFG · coverage</a:t>
            </a:r>
            <a:endParaRPr lang="en-US" sz="108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18C541FA-09EC-ACE9-963D-55F41062BA24}"/>
              </a:ext>
            </a:extLst>
          </p:cNvPr>
          <p:cNvSpPr/>
          <p:nvPr/>
        </p:nvSpPr>
        <p:spPr>
          <a:xfrm>
            <a:off x="8458200" y="2304288"/>
            <a:ext cx="822960" cy="822960"/>
          </a:xfrm>
          <a:prstGeom prst="ellipse">
            <a:avLst/>
          </a:prstGeom>
          <a:solidFill>
            <a:srgbClr val="FFC857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512F8A2F-D2E1-6177-9D35-517057E6D1A6}"/>
              </a:ext>
            </a:extLst>
          </p:cNvPr>
          <p:cNvSpPr/>
          <p:nvPr/>
        </p:nvSpPr>
        <p:spPr>
          <a:xfrm>
            <a:off x="8641080" y="2468880"/>
            <a:ext cx="457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%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CD295989-9A1D-4A82-C663-F1F84BE33A2C}"/>
              </a:ext>
            </a:extLst>
          </p:cNvPr>
          <p:cNvSpPr/>
          <p:nvPr/>
        </p:nvSpPr>
        <p:spPr>
          <a:xfrm>
            <a:off x="8156448" y="3401568"/>
            <a:ext cx="142646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07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Mutanți</a:t>
            </a:r>
            <a:endParaRPr lang="en-US" sz="143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2AFD5259-E5E9-DF41-17B3-6F667B55B326}"/>
              </a:ext>
            </a:extLst>
          </p:cNvPr>
          <p:cNvSpPr/>
          <p:nvPr/>
        </p:nvSpPr>
        <p:spPr>
          <a:xfrm>
            <a:off x="8028432" y="3749040"/>
            <a:ext cx="168249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Cosmic Ray</a:t>
            </a:r>
            <a:endParaRPr lang="en-US" sz="108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F550D3ED-9133-FC29-57CB-3775CBAAA916}"/>
              </a:ext>
            </a:extLst>
          </p:cNvPr>
          <p:cNvSpPr/>
          <p:nvPr/>
        </p:nvSpPr>
        <p:spPr>
          <a:xfrm>
            <a:off x="10332720" y="2304288"/>
            <a:ext cx="822960" cy="822960"/>
          </a:xfrm>
          <a:prstGeom prst="ellipse">
            <a:avLst/>
          </a:prstGeom>
          <a:solidFill>
            <a:srgbClr val="2EAD67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876B7883-9F54-EE3E-A8F6-19855DF20CBE}"/>
              </a:ext>
            </a:extLst>
          </p:cNvPr>
          <p:cNvSpPr/>
          <p:nvPr/>
        </p:nvSpPr>
        <p:spPr>
          <a:xfrm>
            <a:off x="10515600" y="2468880"/>
            <a:ext cx="457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%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40F03A61-988F-927B-71B3-3970C75CE773}"/>
              </a:ext>
            </a:extLst>
          </p:cNvPr>
          <p:cNvSpPr/>
          <p:nvPr/>
        </p:nvSpPr>
        <p:spPr>
          <a:xfrm>
            <a:off x="10030968" y="3401568"/>
            <a:ext cx="142646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07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43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A373AC7E-36EF-F6EB-D07B-5F830A592BCA}"/>
              </a:ext>
            </a:extLst>
          </p:cNvPr>
          <p:cNvSpPr/>
          <p:nvPr/>
        </p:nvSpPr>
        <p:spPr>
          <a:xfrm>
            <a:off x="9902952" y="3749040"/>
            <a:ext cx="168249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generare + validare</a:t>
            </a:r>
            <a:endParaRPr lang="en-US" sz="108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77067907-FB20-C960-0B46-B129D0A77D42}"/>
              </a:ext>
            </a:extLst>
          </p:cNvPr>
          <p:cNvSpPr/>
          <p:nvPr/>
        </p:nvSpPr>
        <p:spPr>
          <a:xfrm>
            <a:off x="713232" y="5715000"/>
            <a:ext cx="10469880" cy="411480"/>
          </a:xfrm>
          <a:prstGeom prst="roundRect">
            <a:avLst>
              <a:gd name="adj" fmla="val 17778"/>
            </a:avLst>
          </a:prstGeom>
          <a:solidFill>
            <a:srgbClr val="EAF2FF"/>
          </a:solidFill>
          <a:ln w="6985">
            <a:solidFill>
              <a:srgbClr val="BCD3FF"/>
            </a:solidFill>
            <a:prstDash val="solid"/>
          </a:ln>
        </p:spPr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ED68EA4C-4558-213C-2CCA-AD0ADB036177}"/>
              </a:ext>
            </a:extLst>
          </p:cNvPr>
          <p:cNvSpPr/>
          <p:nvPr/>
        </p:nvSpPr>
        <p:spPr>
          <a:xfrm>
            <a:off x="914400" y="5797296"/>
            <a:ext cx="10058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%"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7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Mesaj-cheie: prezentarea arată evoluția de la specificație la dovezi concrete de testare.</a:t>
            </a:r>
            <a:endParaRPr lang="en-US" sz="132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18E2F6FE-1549-A960-4FAB-90D1E0B91AC3}"/>
              </a:ext>
            </a:extLst>
          </p:cNvPr>
          <p:cNvSpPr/>
          <p:nvPr/>
        </p:nvSpPr>
        <p:spPr>
          <a:xfrm>
            <a:off x="11164824" y="62727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08633713"/>
      </p:ext>
    </p:extLst>
  </p:cSld>
  <p:clrMapOvr>
    <a:masterClrMapping/>
  </p:clrMapOvr>
</p:sld>
</file>

<file path=ppt/slides/slide3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6E6C7F7-CEF8-DA95-24DC-CB46E84EC5C2}"/>
              </a:ext>
            </a:extLst>
          </p:cNvPr>
          <p:cNvSpPr/>
          <p:nvPr/>
        </p:nvSpPr>
        <p:spPr>
          <a:xfrm>
            <a:off x="594360" y="6364224"/>
            <a:ext cx="10972800" cy="0"/>
          </a:xfrm>
          <a:prstGeom prst="line">
            <a:avLst/>
          </a:prstGeom>
          <a:noFill/>
          <a:ln w="15875">
            <a:solidFill>
              <a:srgbClr val="246BFE">
                <a:alpha val="75%"/>
              </a:srgbClr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FEAC9F8-3D29-32FA-FC91-57DFFBFE96DB}"/>
              </a:ext>
            </a:extLst>
          </p:cNvPr>
          <p:cNvSpPr/>
          <p:nvPr/>
        </p:nvSpPr>
        <p:spPr>
          <a:xfrm>
            <a:off x="667512" y="310896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246B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EQUATIONSOLVER</a:t>
            </a:r>
            <a:endParaRPr lang="en-US" sz="93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6CADC52-67E5-5972-11B0-4B366FBEBD83}"/>
              </a:ext>
            </a:extLst>
          </p:cNvPr>
          <p:cNvSpPr/>
          <p:nvPr/>
        </p:nvSpPr>
        <p:spPr>
          <a:xfrm>
            <a:off x="640080" y="786384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5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Contractul metodei solve()</a:t>
            </a:r>
            <a:endParaRPr lang="en-US" sz="30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3E79A27-0489-BA6E-0D1E-CC3F9365AF49}"/>
              </a:ext>
            </a:extLst>
          </p:cNvPr>
          <p:cNvSpPr/>
          <p:nvPr/>
        </p:nvSpPr>
        <p:spPr>
          <a:xfrm>
            <a:off x="713232" y="1417320"/>
            <a:ext cx="107442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.5%"/>
          </a:bodyPr>
          <a:lstStyle/>
          <a:p>
            <a:pPr marL="0" indent="0" algn="l">
              <a:buNone/>
            </a:pPr>
            <a:r>
              <a:rPr lang="en-US" sz="18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Metoda primește trei coeficienți și are cinci comportamente observabile: două erori și trei tipuri de rezultate.</a:t>
            </a:r>
            <a:endParaRPr lang="en-US" sz="182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BF06843-59F9-F368-FBD0-9A413163BB64}"/>
              </a:ext>
            </a:extLst>
          </p:cNvPr>
          <p:cNvSpPr/>
          <p:nvPr/>
        </p:nvSpPr>
        <p:spPr>
          <a:xfrm>
            <a:off x="777240" y="1938528"/>
            <a:ext cx="37490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7E1EA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DF27239-3A35-7099-F153-EAB8E58722AB}"/>
              </a:ext>
            </a:extLst>
          </p:cNvPr>
          <p:cNvSpPr/>
          <p:nvPr/>
        </p:nvSpPr>
        <p:spPr>
          <a:xfrm>
            <a:off x="1051560" y="2212848"/>
            <a:ext cx="32004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Intrări valide</a:t>
            </a:r>
            <a:endParaRPr lang="en-US" sz="17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D1D98DC-9204-7D78-EDFC-D4C1277CE1FF}"/>
              </a:ext>
            </a:extLst>
          </p:cNvPr>
          <p:cNvSpPr/>
          <p:nvPr/>
        </p:nvSpPr>
        <p:spPr>
          <a:xfrm>
            <a:off x="1371600" y="2834640"/>
            <a:ext cx="25603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%"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46BF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a, b, c ∈ ℝ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246BF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≠ 0</a:t>
            </a:r>
            <a:endParaRPr lang="en-US" sz="26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0544CCC-FB4D-6A84-C2CA-472A8FC19C71}"/>
              </a:ext>
            </a:extLst>
          </p:cNvPr>
          <p:cNvSpPr/>
          <p:nvPr/>
        </p:nvSpPr>
        <p:spPr>
          <a:xfrm>
            <a:off x="1078992" y="4160520"/>
            <a:ext cx="3154680" cy="475488"/>
          </a:xfrm>
          <a:prstGeom prst="roundRect">
            <a:avLst>
              <a:gd name="adj" fmla="val 15385"/>
            </a:avLst>
          </a:prstGeom>
          <a:solidFill>
            <a:srgbClr val="FFF2F2"/>
          </a:solidFill>
          <a:ln w="12700">
            <a:solidFill>
              <a:srgbClr val="FFF2F2">
                <a:alpha val="0%"/>
              </a:srgbClr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355C1CD-6E3F-5C24-45C0-E894AC7745D5}"/>
              </a:ext>
            </a:extLst>
          </p:cNvPr>
          <p:cNvSpPr/>
          <p:nvPr/>
        </p:nvSpPr>
        <p:spPr>
          <a:xfrm>
            <a:off x="1152144" y="4187952"/>
            <a:ext cx="300837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bool NU este acceptat, deși în Python bool derivă din int</a:t>
            </a:r>
            <a:endParaRPr lang="en-US" sz="11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10D5095-67E7-8138-67F9-B47A6727CA96}"/>
              </a:ext>
            </a:extLst>
          </p:cNvPr>
          <p:cNvSpPr/>
          <p:nvPr/>
        </p:nvSpPr>
        <p:spPr>
          <a:xfrm>
            <a:off x="4645152" y="3547872"/>
            <a:ext cx="932688" cy="0"/>
          </a:xfrm>
          <a:prstGeom prst="line">
            <a:avLst/>
          </a:prstGeom>
          <a:noFill/>
          <a:ln w="21590">
            <a:solidFill>
              <a:srgbClr val="246BFE"/>
            </a:solidFill>
            <a:prstDash val="solid"/>
            <a:headEnd type="none"/>
            <a:tailEnd type="triangle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775C7C4-2839-B0A0-9F48-6673FEBEF4A7}"/>
              </a:ext>
            </a:extLst>
          </p:cNvPr>
          <p:cNvSpPr/>
          <p:nvPr/>
        </p:nvSpPr>
        <p:spPr>
          <a:xfrm>
            <a:off x="5715000" y="1938528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0C1728"/>
          </a:solidFill>
          <a:ln w="9525">
            <a:solidFill>
              <a:srgbClr val="14385C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CA9B719-833C-09A8-40EA-66A4589E58E8}"/>
              </a:ext>
            </a:extLst>
          </p:cNvPr>
          <p:cNvSpPr/>
          <p:nvPr/>
        </p:nvSpPr>
        <p:spPr>
          <a:xfrm>
            <a:off x="6016752" y="2249424"/>
            <a:ext cx="4892040" cy="2606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30" dirty="0">
                <a:solidFill>
                  <a:srgbClr val="E8F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tip invalid: raise ValueError</a:t>
            </a:r>
            <a:endParaRPr lang="en-US" sz="1430" dirty="0"/>
          </a:p>
          <a:p>
            <a:pPr marL="0" indent="0" algn="l">
              <a:buNone/>
            </a:pPr>
            <a:r>
              <a:rPr lang="en-US" sz="1430" dirty="0">
                <a:solidFill>
                  <a:srgbClr val="E8F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 == 0: raise ValueError</a:t>
            </a:r>
            <a:endParaRPr lang="en-US" sz="1430" dirty="0"/>
          </a:p>
          <a:p>
            <a:pPr marL="0" indent="0" algn="l">
              <a:buNone/>
            </a:pPr>
            <a:r>
              <a:rPr lang="en-US" sz="1430" dirty="0">
                <a:solidFill>
                  <a:srgbClr val="E8F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 = b² − 4ac</a:t>
            </a:r>
            <a:endParaRPr lang="en-US" sz="1430" dirty="0"/>
          </a:p>
          <a:p>
            <a:pPr marL="0" indent="0" algn="l">
              <a:buNone/>
            </a:pPr>
            <a:endParaRPr lang="en-US" sz="1430" dirty="0"/>
          </a:p>
          <a:p>
            <a:pPr marL="0" indent="0" algn="l">
              <a:buNone/>
            </a:pPr>
            <a:r>
              <a:rPr lang="en-US" sz="1430" dirty="0">
                <a:solidFill>
                  <a:srgbClr val="E8F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Δ &lt; 0: return rădăcini complexe</a:t>
            </a:r>
            <a:endParaRPr lang="en-US" sz="1430" dirty="0"/>
          </a:p>
          <a:p>
            <a:pPr marL="0" indent="0" algn="l">
              <a:buNone/>
            </a:pPr>
            <a:r>
              <a:rPr lang="en-US" sz="1430" dirty="0">
                <a:solidFill>
                  <a:srgbClr val="E8F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Δ ≈ 0: return rădăcină dublă</a:t>
            </a:r>
            <a:endParaRPr lang="en-US" sz="1430" dirty="0"/>
          </a:p>
          <a:p>
            <a:pPr marL="0" indent="0" algn="l">
              <a:buNone/>
            </a:pPr>
            <a:r>
              <a:rPr lang="en-US" sz="1430" dirty="0">
                <a:solidFill>
                  <a:srgbClr val="E8F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 return două rădăcini reale</a:t>
            </a:r>
            <a:endParaRPr lang="en-US" sz="143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4534DCB-2D61-DA84-AF32-A92DB5E10382}"/>
              </a:ext>
            </a:extLst>
          </p:cNvPr>
          <p:cNvSpPr/>
          <p:nvPr/>
        </p:nvSpPr>
        <p:spPr>
          <a:xfrm>
            <a:off x="713232" y="5715000"/>
            <a:ext cx="10469880" cy="411480"/>
          </a:xfrm>
          <a:prstGeom prst="roundRect">
            <a:avLst>
              <a:gd name="adj" fmla="val 17778"/>
            </a:avLst>
          </a:prstGeom>
          <a:solidFill>
            <a:srgbClr val="EAF2FF"/>
          </a:solidFill>
          <a:ln w="6985">
            <a:solidFill>
              <a:srgbClr val="BCD3FF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60BF4A0-8EF8-344D-A665-5E8972A10F15}"/>
              </a:ext>
            </a:extLst>
          </p:cNvPr>
          <p:cNvSpPr/>
          <p:nvPr/>
        </p:nvSpPr>
        <p:spPr>
          <a:xfrm>
            <a:off x="914400" y="5797296"/>
            <a:ext cx="10058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%"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7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Mesaj-cheie: testele trebuie să verifice atât rezultatele matematice, cât și validarea intrărilor.</a:t>
            </a:r>
            <a:endParaRPr lang="en-US" sz="132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D9BE806-211F-9B44-AACE-0EC271D596AC}"/>
              </a:ext>
            </a:extLst>
          </p:cNvPr>
          <p:cNvSpPr/>
          <p:nvPr/>
        </p:nvSpPr>
        <p:spPr>
          <a:xfrm>
            <a:off x="11164824" y="62727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774039118"/>
      </p:ext>
    </p:extLst>
  </p:cSld>
  <p:clrMapOvr>
    <a:masterClrMapping/>
  </p:clrMapOvr>
</p:sld>
</file>

<file path=ppt/slides/slide4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4E09E8F-93E6-A54C-D9DD-C035B435BF16}"/>
              </a:ext>
            </a:extLst>
          </p:cNvPr>
          <p:cNvSpPr/>
          <p:nvPr/>
        </p:nvSpPr>
        <p:spPr>
          <a:xfrm>
            <a:off x="594360" y="6364224"/>
            <a:ext cx="10972800" cy="0"/>
          </a:xfrm>
          <a:prstGeom prst="line">
            <a:avLst/>
          </a:prstGeom>
          <a:noFill/>
          <a:ln w="15875">
            <a:solidFill>
              <a:srgbClr val="246BFE">
                <a:alpha val="75%"/>
              </a:srgbClr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99F364C-C100-89D9-17C4-02D4CC3D2908}"/>
              </a:ext>
            </a:extLst>
          </p:cNvPr>
          <p:cNvSpPr/>
          <p:nvPr/>
        </p:nvSpPr>
        <p:spPr>
          <a:xfrm>
            <a:off x="667512" y="310896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246B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CE NU SUNT SUFICIENTE 2–3 EXEMPLE</a:t>
            </a:r>
            <a:endParaRPr lang="en-US" sz="93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FFC3914-35F3-FDAE-6795-694CAC923DED}"/>
              </a:ext>
            </a:extLst>
          </p:cNvPr>
          <p:cNvSpPr/>
          <p:nvPr/>
        </p:nvSpPr>
        <p:spPr>
          <a:xfrm>
            <a:off x="640080" y="786384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5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 riscuri trebuie acoperite?</a:t>
            </a:r>
            <a:endParaRPr lang="en-US" sz="30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DB47674-BAC3-A429-54A1-F457E3422075}"/>
              </a:ext>
            </a:extLst>
          </p:cNvPr>
          <p:cNvSpPr/>
          <p:nvPr/>
        </p:nvSpPr>
        <p:spPr>
          <a:xfrm>
            <a:off x="731520" y="1417320"/>
            <a:ext cx="10424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solver matematic poate părea simplu, dar are zone în care erorile apar ușor.</a:t>
            </a:r>
            <a:endParaRPr lang="en-US" sz="18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7638D46-A2D2-E9EE-5990-2667B002F538}"/>
              </a:ext>
            </a:extLst>
          </p:cNvPr>
          <p:cNvSpPr/>
          <p:nvPr/>
        </p:nvSpPr>
        <p:spPr>
          <a:xfrm>
            <a:off x="868680" y="2039112"/>
            <a:ext cx="470916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206D903-8468-402B-E62F-B4B30705739C}"/>
              </a:ext>
            </a:extLst>
          </p:cNvPr>
          <p:cNvSpPr/>
          <p:nvPr/>
        </p:nvSpPr>
        <p:spPr>
          <a:xfrm>
            <a:off x="1161288" y="2350008"/>
            <a:ext cx="603504" cy="603504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>
                <a:alpha val="0%"/>
              </a:srgbClr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7266592-AFFD-6B41-0E3B-00A134F9788A}"/>
              </a:ext>
            </a:extLst>
          </p:cNvPr>
          <p:cNvSpPr/>
          <p:nvPr/>
        </p:nvSpPr>
        <p:spPr>
          <a:xfrm>
            <a:off x="1161288" y="2487168"/>
            <a:ext cx="6035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%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E1</a:t>
            </a:r>
            <a:endParaRPr lang="en-US" sz="11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6F6788E-C8FC-A8B6-E625-283B8AF405BB}"/>
              </a:ext>
            </a:extLst>
          </p:cNvPr>
          <p:cNvSpPr/>
          <p:nvPr/>
        </p:nvSpPr>
        <p:spPr>
          <a:xfrm>
            <a:off x="1947672" y="2276856"/>
            <a:ext cx="3337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%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7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Validare tip</a:t>
            </a:r>
            <a:endParaRPr lang="en-US" sz="17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E2CCC6A-F824-EDF5-C80D-C4A4300F37D4}"/>
              </a:ext>
            </a:extLst>
          </p:cNvPr>
          <p:cNvSpPr/>
          <p:nvPr/>
        </p:nvSpPr>
        <p:spPr>
          <a:xfrm>
            <a:off x="1947672" y="2679192"/>
            <a:ext cx="331012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string, list, None, bool trebuie respinse</a:t>
            </a:r>
            <a:endParaRPr lang="en-US" sz="134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BD301E9-5C05-D8FA-5FCE-C43F560E2D4D}"/>
              </a:ext>
            </a:extLst>
          </p:cNvPr>
          <p:cNvSpPr/>
          <p:nvPr/>
        </p:nvSpPr>
        <p:spPr>
          <a:xfrm>
            <a:off x="6263640" y="2039112"/>
            <a:ext cx="470916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C08F7F2-FE7B-5528-E1E8-FC3DC4B16FFE}"/>
              </a:ext>
            </a:extLst>
          </p:cNvPr>
          <p:cNvSpPr/>
          <p:nvPr/>
        </p:nvSpPr>
        <p:spPr>
          <a:xfrm>
            <a:off x="6556248" y="2350008"/>
            <a:ext cx="603504" cy="603504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>
                <a:alpha val="0%"/>
              </a:srgbClr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19A02A5-3536-8FA8-F2B3-EEC8A2BAD66B}"/>
              </a:ext>
            </a:extLst>
          </p:cNvPr>
          <p:cNvSpPr/>
          <p:nvPr/>
        </p:nvSpPr>
        <p:spPr>
          <a:xfrm>
            <a:off x="6556248" y="2487168"/>
            <a:ext cx="6035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%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E2</a:t>
            </a:r>
            <a:endParaRPr lang="en-US" sz="11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5608156-EB0F-D5B5-9331-6D7C028EECD8}"/>
              </a:ext>
            </a:extLst>
          </p:cNvPr>
          <p:cNvSpPr/>
          <p:nvPr/>
        </p:nvSpPr>
        <p:spPr>
          <a:xfrm>
            <a:off x="7342632" y="2276856"/>
            <a:ext cx="3337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%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7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Restricție matematică</a:t>
            </a:r>
            <a:endParaRPr lang="en-US" sz="17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6CAABD8-25D4-CAD3-CE5D-4E86104EA2E4}"/>
              </a:ext>
            </a:extLst>
          </p:cNvPr>
          <p:cNvSpPr/>
          <p:nvPr/>
        </p:nvSpPr>
        <p:spPr>
          <a:xfrm>
            <a:off x="7342632" y="2679192"/>
            <a:ext cx="331012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= 0 nu mai descrie ecuație de gradul II</a:t>
            </a:r>
            <a:endParaRPr lang="en-US" sz="134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64829F51-D8A9-6FD8-191C-FFAB1902481E}"/>
              </a:ext>
            </a:extLst>
          </p:cNvPr>
          <p:cNvSpPr/>
          <p:nvPr/>
        </p:nvSpPr>
        <p:spPr>
          <a:xfrm>
            <a:off x="868680" y="3749040"/>
            <a:ext cx="470916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FB5E356-779F-573F-E1A6-C60433A9027C}"/>
              </a:ext>
            </a:extLst>
          </p:cNvPr>
          <p:cNvSpPr/>
          <p:nvPr/>
        </p:nvSpPr>
        <p:spPr>
          <a:xfrm>
            <a:off x="1161288" y="4059936"/>
            <a:ext cx="603504" cy="603504"/>
          </a:xfrm>
          <a:prstGeom prst="ellipse">
            <a:avLst/>
          </a:prstGeom>
          <a:solidFill>
            <a:srgbClr val="246BFE"/>
          </a:solidFill>
          <a:ln w="12700">
            <a:solidFill>
              <a:srgbClr val="246BFE">
                <a:alpha val="0%"/>
              </a:srgbClr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2302472-B3B8-124B-CE0D-18BF1ED3F468}"/>
              </a:ext>
            </a:extLst>
          </p:cNvPr>
          <p:cNvSpPr/>
          <p:nvPr/>
        </p:nvSpPr>
        <p:spPr>
          <a:xfrm>
            <a:off x="1161288" y="4197096"/>
            <a:ext cx="6035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%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AVF</a:t>
            </a:r>
            <a:endParaRPr lang="en-US" sz="11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1769BE3-349F-2886-F655-2121B736F6FC}"/>
              </a:ext>
            </a:extLst>
          </p:cNvPr>
          <p:cNvSpPr/>
          <p:nvPr/>
        </p:nvSpPr>
        <p:spPr>
          <a:xfrm>
            <a:off x="1947672" y="3986784"/>
            <a:ext cx="3337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%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7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Frontiere numerice</a:t>
            </a:r>
            <a:endParaRPr lang="en-US" sz="17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A2EAC09-CBB8-C037-FED6-1CD2BFE02DD9}"/>
              </a:ext>
            </a:extLst>
          </p:cNvPr>
          <p:cNvSpPr/>
          <p:nvPr/>
        </p:nvSpPr>
        <p:spPr>
          <a:xfrm>
            <a:off x="1947672" y="4389120"/>
            <a:ext cx="331012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%"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aproape de 0 și Δ aproape de 0 schimbă comportamentul</a:t>
            </a:r>
            <a:endParaRPr lang="en-US" sz="134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6E9FFC50-A2C9-5727-368C-C6E15BAF8501}"/>
              </a:ext>
            </a:extLst>
          </p:cNvPr>
          <p:cNvSpPr/>
          <p:nvPr/>
        </p:nvSpPr>
        <p:spPr>
          <a:xfrm>
            <a:off x="6263640" y="3749040"/>
            <a:ext cx="470916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6D5DFE"/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33D009EF-62D6-566F-E85F-8FA3E1B2E836}"/>
              </a:ext>
            </a:extLst>
          </p:cNvPr>
          <p:cNvSpPr/>
          <p:nvPr/>
        </p:nvSpPr>
        <p:spPr>
          <a:xfrm>
            <a:off x="6556248" y="4059936"/>
            <a:ext cx="603504" cy="603504"/>
          </a:xfrm>
          <a:prstGeom prst="ellipse">
            <a:avLst/>
          </a:prstGeom>
          <a:solidFill>
            <a:srgbClr val="6D5DFE"/>
          </a:solidFill>
          <a:ln w="12700">
            <a:solidFill>
              <a:srgbClr val="6D5DFE">
                <a:alpha val="0%"/>
              </a:srgbClr>
            </a:solidFill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15CA259F-5DBF-2FFE-101B-A6B8350EA0EA}"/>
              </a:ext>
            </a:extLst>
          </p:cNvPr>
          <p:cNvSpPr/>
          <p:nvPr/>
        </p:nvSpPr>
        <p:spPr>
          <a:xfrm>
            <a:off x="6556248" y="4197096"/>
            <a:ext cx="6035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%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MT</a:t>
            </a:r>
            <a:endParaRPr lang="en-US" sz="115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3DE1B98-CDB5-C0F6-5F57-8807738F7BB6}"/>
              </a:ext>
            </a:extLst>
          </p:cNvPr>
          <p:cNvSpPr/>
          <p:nvPr/>
        </p:nvSpPr>
        <p:spPr>
          <a:xfrm>
            <a:off x="7342632" y="3986784"/>
            <a:ext cx="3337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%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7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Puterea suitei</a:t>
            </a:r>
            <a:endParaRPr lang="en-US" sz="17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A1577B6-984C-B9DC-7ADB-D7E6A91BC885}"/>
              </a:ext>
            </a:extLst>
          </p:cNvPr>
          <p:cNvSpPr/>
          <p:nvPr/>
        </p:nvSpPr>
        <p:spPr>
          <a:xfrm>
            <a:off x="7342632" y="4389120"/>
            <a:ext cx="331012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%"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 100% nu garantează că testele prind mutații</a:t>
            </a:r>
            <a:endParaRPr lang="en-US" sz="134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17BBF5BC-A626-15BF-5D2E-B30FE80C13C7}"/>
              </a:ext>
            </a:extLst>
          </p:cNvPr>
          <p:cNvSpPr/>
          <p:nvPr/>
        </p:nvSpPr>
        <p:spPr>
          <a:xfrm>
            <a:off x="713232" y="5715000"/>
            <a:ext cx="10469880" cy="411480"/>
          </a:xfrm>
          <a:prstGeom prst="roundRect">
            <a:avLst>
              <a:gd name="adj" fmla="val 17778"/>
            </a:avLst>
          </a:prstGeom>
          <a:solidFill>
            <a:srgbClr val="EAF2FF"/>
          </a:solidFill>
          <a:ln w="6985">
            <a:solidFill>
              <a:srgbClr val="BCD3FF"/>
            </a:solidFill>
            <a:prstDash val="solid"/>
          </a:ln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814A0A91-D7E2-82E4-308E-4FCB5B765686}"/>
              </a:ext>
            </a:extLst>
          </p:cNvPr>
          <p:cNvSpPr/>
          <p:nvPr/>
        </p:nvSpPr>
        <p:spPr>
          <a:xfrm>
            <a:off x="914400" y="5797296"/>
            <a:ext cx="10058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%"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7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Mesaj-cheie: fiecare tehnică de testare este aleasă pentru un risc concret.</a:t>
            </a:r>
            <a:endParaRPr lang="en-US" sz="132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74C780D2-EB3F-5CB3-D495-6B824C8D0816}"/>
              </a:ext>
            </a:extLst>
          </p:cNvPr>
          <p:cNvSpPr/>
          <p:nvPr/>
        </p:nvSpPr>
        <p:spPr>
          <a:xfrm>
            <a:off x="11164824" y="62727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289161701"/>
      </p:ext>
    </p:extLst>
  </p:cSld>
  <p:clrMapOvr>
    <a:masterClrMapping/>
  </p:clrMapOvr>
</p:sld>
</file>

<file path=ppt/slides/slide5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4B5FE14-8644-DCBA-CD69-FEDE3313391B}"/>
              </a:ext>
            </a:extLst>
          </p:cNvPr>
          <p:cNvSpPr/>
          <p:nvPr/>
        </p:nvSpPr>
        <p:spPr>
          <a:xfrm>
            <a:off x="594360" y="6364224"/>
            <a:ext cx="10972800" cy="0"/>
          </a:xfrm>
          <a:prstGeom prst="line">
            <a:avLst/>
          </a:prstGeom>
          <a:noFill/>
          <a:ln w="15875">
            <a:solidFill>
              <a:srgbClr val="246BFE">
                <a:alpha val="75%"/>
              </a:srgbClr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EBC1252-C94E-1FAD-3C39-7C0AF3B35DB1}"/>
              </a:ext>
            </a:extLst>
          </p:cNvPr>
          <p:cNvSpPr/>
          <p:nvPr/>
        </p:nvSpPr>
        <p:spPr>
          <a:xfrm>
            <a:off x="667512" y="310896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246B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BLACK BOX TESTING</a:t>
            </a:r>
            <a:endParaRPr lang="en-US" sz="93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5797A1F-3D67-BEB0-B835-60311BD63B74}"/>
              </a:ext>
            </a:extLst>
          </p:cNvPr>
          <p:cNvSpPr/>
          <p:nvPr/>
        </p:nvSpPr>
        <p:spPr>
          <a:xfrm>
            <a:off x="640080" y="786384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5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Clase de echivalență (CE)</a:t>
            </a:r>
            <a:endParaRPr lang="en-US" sz="30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3993A1B-556C-2937-827E-C820E64EF604}"/>
              </a:ext>
            </a:extLst>
          </p:cNvPr>
          <p:cNvSpPr/>
          <p:nvPr/>
        </p:nvSpPr>
        <p:spPr>
          <a:xfrm>
            <a:off x="731520" y="1417320"/>
            <a:ext cx="104698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Împărțim domeniul intrărilor în clase care produc același tip de rezultat.</a:t>
            </a:r>
            <a:endParaRPr lang="en-US" sz="18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5C0F10C-21F5-1F9C-A504-05CD2138C2E3}"/>
              </a:ext>
            </a:extLst>
          </p:cNvPr>
          <p:cNvSpPr/>
          <p:nvPr/>
        </p:nvSpPr>
        <p:spPr>
          <a:xfrm>
            <a:off x="868680" y="2240280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E8F1FF"/>
          </a:solidFill>
          <a:ln w="14605">
            <a:solidFill>
              <a:srgbClr val="246BFE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E3C70F3-5AC4-69F9-964F-13BEB9AE42B4}"/>
              </a:ext>
            </a:extLst>
          </p:cNvPr>
          <p:cNvSpPr/>
          <p:nvPr/>
        </p:nvSpPr>
        <p:spPr>
          <a:xfrm>
            <a:off x="941832" y="2286000"/>
            <a:ext cx="1179576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Intrări</a:t>
            </a:r>
            <a:endParaRPr lang="en-US" sz="14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2616005-1E8E-E3C6-1720-AEDE626C5EEB}"/>
              </a:ext>
            </a:extLst>
          </p:cNvPr>
          <p:cNvSpPr/>
          <p:nvPr/>
        </p:nvSpPr>
        <p:spPr>
          <a:xfrm>
            <a:off x="2331720" y="2514600"/>
            <a:ext cx="868680" cy="0"/>
          </a:xfrm>
          <a:prstGeom prst="line">
            <a:avLst/>
          </a:prstGeom>
          <a:noFill/>
          <a:ln w="17780">
            <a:solidFill>
              <a:srgbClr val="246BFE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DD32CC5-A796-0F98-152E-7E1DE8BA0F74}"/>
              </a:ext>
            </a:extLst>
          </p:cNvPr>
          <p:cNvSpPr/>
          <p:nvPr/>
        </p:nvSpPr>
        <p:spPr>
          <a:xfrm>
            <a:off x="3291840" y="2011680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FFF2F2"/>
          </a:solidFill>
          <a:ln w="14605">
            <a:solidFill>
              <a:srgbClr val="E45756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9F3BD9E-EFFC-F350-5AB5-D29EB9DEC5A2}"/>
              </a:ext>
            </a:extLst>
          </p:cNvPr>
          <p:cNvSpPr/>
          <p:nvPr/>
        </p:nvSpPr>
        <p:spPr>
          <a:xfrm>
            <a:off x="3364992" y="2057400"/>
            <a:ext cx="1362456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CE1</a:t>
            </a:r>
            <a:endParaRPr lang="en-US" sz="1230" dirty="0"/>
          </a:p>
          <a:p>
            <a:pPr marL="0" indent="0" algn="ctr">
              <a:buNone/>
            </a:pPr>
            <a:r>
              <a:rPr lang="en-US" sz="123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 invalid</a:t>
            </a:r>
            <a:endParaRPr lang="en-US" sz="123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2D92D6D-36F6-30ED-0852-876A36471BEA}"/>
              </a:ext>
            </a:extLst>
          </p:cNvPr>
          <p:cNvSpPr/>
          <p:nvPr/>
        </p:nvSpPr>
        <p:spPr>
          <a:xfrm>
            <a:off x="3291840" y="2907792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FFF7E3"/>
          </a:solidFill>
          <a:ln w="14605">
            <a:solidFill>
              <a:srgbClr val="FFC857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976AB45-65C1-4843-9955-DA5C9F4B4669}"/>
              </a:ext>
            </a:extLst>
          </p:cNvPr>
          <p:cNvSpPr/>
          <p:nvPr/>
        </p:nvSpPr>
        <p:spPr>
          <a:xfrm>
            <a:off x="3364992" y="2953512"/>
            <a:ext cx="1362456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CE2</a:t>
            </a:r>
            <a:endParaRPr lang="en-US" sz="1230" dirty="0"/>
          </a:p>
          <a:p>
            <a:pPr marL="0" indent="0" algn="ctr">
              <a:buNone/>
            </a:pPr>
            <a:r>
              <a:rPr lang="en-US" sz="123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= 0</a:t>
            </a:r>
            <a:endParaRPr lang="en-US" sz="123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A7DAC1E-34DF-AAB2-E0B2-683798B4E4BB}"/>
              </a:ext>
            </a:extLst>
          </p:cNvPr>
          <p:cNvSpPr/>
          <p:nvPr/>
        </p:nvSpPr>
        <p:spPr>
          <a:xfrm>
            <a:off x="5166360" y="2011680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FFF5D9"/>
          </a:solidFill>
          <a:ln w="14605">
            <a:solidFill>
              <a:srgbClr val="FFC857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6A46538-82E6-334D-B904-F78AF7DCAF4A}"/>
              </a:ext>
            </a:extLst>
          </p:cNvPr>
          <p:cNvSpPr/>
          <p:nvPr/>
        </p:nvSpPr>
        <p:spPr>
          <a:xfrm>
            <a:off x="5239512" y="2057400"/>
            <a:ext cx="1362456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CS1</a:t>
            </a:r>
            <a:endParaRPr lang="en-US" sz="1230" dirty="0"/>
          </a:p>
          <a:p>
            <a:pPr marL="0" indent="0" algn="ctr">
              <a:buNone/>
            </a:pPr>
            <a:r>
              <a:rPr lang="en-US" sz="123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&lt; 0</a:t>
            </a:r>
            <a:endParaRPr lang="en-US" sz="123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575A226A-F803-19AA-55AF-3AF2CB1BC6C8}"/>
              </a:ext>
            </a:extLst>
          </p:cNvPr>
          <p:cNvSpPr/>
          <p:nvPr/>
        </p:nvSpPr>
        <p:spPr>
          <a:xfrm>
            <a:off x="5166360" y="2907792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E9FFF8"/>
          </a:solidFill>
          <a:ln w="14605">
            <a:solidFill>
              <a:srgbClr val="37D6C7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4EBE322-0265-59D8-6516-0905BBEC3109}"/>
              </a:ext>
            </a:extLst>
          </p:cNvPr>
          <p:cNvSpPr/>
          <p:nvPr/>
        </p:nvSpPr>
        <p:spPr>
          <a:xfrm>
            <a:off x="5239512" y="2953512"/>
            <a:ext cx="1362456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CS2</a:t>
            </a:r>
            <a:endParaRPr lang="en-US" sz="1230" dirty="0"/>
          </a:p>
          <a:p>
            <a:pPr marL="0" indent="0" algn="ctr">
              <a:buNone/>
            </a:pPr>
            <a:r>
              <a:rPr lang="en-US" sz="123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= 0</a:t>
            </a:r>
            <a:endParaRPr lang="en-US" sz="123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8825CBC-AC53-80B1-1308-9077E28A362F}"/>
              </a:ext>
            </a:extLst>
          </p:cNvPr>
          <p:cNvSpPr/>
          <p:nvPr/>
        </p:nvSpPr>
        <p:spPr>
          <a:xfrm>
            <a:off x="5166360" y="3803904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E8F1FF"/>
          </a:solidFill>
          <a:ln w="14605">
            <a:solidFill>
              <a:srgbClr val="246BFE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90A2E6E-FE64-3C31-FC02-FBD469C6DF98}"/>
              </a:ext>
            </a:extLst>
          </p:cNvPr>
          <p:cNvSpPr/>
          <p:nvPr/>
        </p:nvSpPr>
        <p:spPr>
          <a:xfrm>
            <a:off x="5239512" y="3849624"/>
            <a:ext cx="1362456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CS3</a:t>
            </a:r>
            <a:endParaRPr lang="en-US" sz="1230" dirty="0"/>
          </a:p>
          <a:p>
            <a:pPr marL="0" indent="0" algn="ctr">
              <a:buNone/>
            </a:pPr>
            <a:r>
              <a:rPr lang="en-US" sz="123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&gt; 0</a:t>
            </a:r>
            <a:endParaRPr lang="en-US" sz="123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D5B4B4B-0D58-27A7-B824-C58BCC0829FF}"/>
              </a:ext>
            </a:extLst>
          </p:cNvPr>
          <p:cNvSpPr/>
          <p:nvPr/>
        </p:nvSpPr>
        <p:spPr>
          <a:xfrm>
            <a:off x="7406640" y="1856232"/>
            <a:ext cx="749419" cy="541020"/>
          </a:xfrm>
          <a:prstGeom prst="rect">
            <a:avLst/>
          </a:prstGeom>
          <a:solidFill>
            <a:srgbClr val="071B2D"/>
          </a:solidFill>
          <a:ln w="4445">
            <a:solidFill>
              <a:srgbClr val="B9C7D6"/>
            </a:solidFill>
            <a:prstDash val="solid"/>
          </a:ln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6B1B50E-29D0-95E1-C675-5F9C4ADA8863}"/>
              </a:ext>
            </a:extLst>
          </p:cNvPr>
          <p:cNvSpPr/>
          <p:nvPr/>
        </p:nvSpPr>
        <p:spPr>
          <a:xfrm>
            <a:off x="7443216" y="1888236"/>
            <a:ext cx="676267" cy="4770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</a:t>
            </a:r>
            <a:endParaRPr lang="en-US" sz="102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1AB3C52-863C-312C-9120-037FA94D599E}"/>
              </a:ext>
            </a:extLst>
          </p:cNvPr>
          <p:cNvSpPr/>
          <p:nvPr/>
        </p:nvSpPr>
        <p:spPr>
          <a:xfrm>
            <a:off x="8156059" y="1856232"/>
            <a:ext cx="1415569" cy="541020"/>
          </a:xfrm>
          <a:prstGeom prst="rect">
            <a:avLst/>
          </a:prstGeom>
          <a:solidFill>
            <a:srgbClr val="071B2D"/>
          </a:solidFill>
          <a:ln w="4445">
            <a:solidFill>
              <a:srgbClr val="B9C7D6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2C5E715-1D5B-59A3-D94E-5469021DEBAA}"/>
              </a:ext>
            </a:extLst>
          </p:cNvPr>
          <p:cNvSpPr/>
          <p:nvPr/>
        </p:nvSpPr>
        <p:spPr>
          <a:xfrm>
            <a:off x="8192635" y="1888236"/>
            <a:ext cx="1342417" cy="4770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Intrare</a:t>
            </a:r>
            <a:endParaRPr lang="en-US" sz="102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B834235F-A517-A516-737A-1B61332ADBEF}"/>
              </a:ext>
            </a:extLst>
          </p:cNvPr>
          <p:cNvSpPr/>
          <p:nvPr/>
        </p:nvSpPr>
        <p:spPr>
          <a:xfrm>
            <a:off x="9571628" y="1856232"/>
            <a:ext cx="1748644" cy="541020"/>
          </a:xfrm>
          <a:prstGeom prst="rect">
            <a:avLst/>
          </a:prstGeom>
          <a:solidFill>
            <a:srgbClr val="071B2D"/>
          </a:solidFill>
          <a:ln w="4445">
            <a:solidFill>
              <a:srgbClr val="B9C7D6"/>
            </a:solidFill>
            <a:prstDash val="solid"/>
          </a:ln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DE5189F-9798-3968-F1AD-94C2BE4EF0EF}"/>
              </a:ext>
            </a:extLst>
          </p:cNvPr>
          <p:cNvSpPr/>
          <p:nvPr/>
        </p:nvSpPr>
        <p:spPr>
          <a:xfrm>
            <a:off x="9608204" y="1888236"/>
            <a:ext cx="1675492" cy="4770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Rezultat așteptat</a:t>
            </a:r>
            <a:endParaRPr lang="en-US" sz="102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F9630320-D39F-4271-6DF3-B07D543A5D11}"/>
              </a:ext>
            </a:extLst>
          </p:cNvPr>
          <p:cNvSpPr/>
          <p:nvPr/>
        </p:nvSpPr>
        <p:spPr>
          <a:xfrm>
            <a:off x="7406640" y="2397252"/>
            <a:ext cx="749419" cy="541020"/>
          </a:xfrm>
          <a:prstGeom prst="rect">
            <a:avLst/>
          </a:prstGeom>
          <a:solidFill>
            <a:srgbClr val="FFFFFF"/>
          </a:solidFill>
          <a:ln w="4445">
            <a:solidFill>
              <a:srgbClr val="B9C7D6"/>
            </a:solidFill>
            <a:prstDash val="solid"/>
          </a:ln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E50D4C8-1E8A-1DEE-527E-172491FA7C9C}"/>
              </a:ext>
            </a:extLst>
          </p:cNvPr>
          <p:cNvSpPr/>
          <p:nvPr/>
        </p:nvSpPr>
        <p:spPr>
          <a:xfrm>
            <a:off x="7443216" y="2429256"/>
            <a:ext cx="676267" cy="4770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TC_CE_01</a:t>
            </a:r>
            <a:endParaRPr lang="en-US" sz="98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BBD8690E-6932-3701-976B-7438DD9DDD92}"/>
              </a:ext>
            </a:extLst>
          </p:cNvPr>
          <p:cNvSpPr/>
          <p:nvPr/>
        </p:nvSpPr>
        <p:spPr>
          <a:xfrm>
            <a:off x="8156059" y="2397252"/>
            <a:ext cx="1415569" cy="541020"/>
          </a:xfrm>
          <a:prstGeom prst="rect">
            <a:avLst/>
          </a:prstGeom>
          <a:solidFill>
            <a:srgbClr val="FFFFFF"/>
          </a:solidFill>
          <a:ln w="4445">
            <a:solidFill>
              <a:srgbClr val="B9C7D6"/>
            </a:solidFill>
            <a:prstDash val="solid"/>
          </a:ln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CBD3E24B-C11E-0B5E-F86F-65F542F467B4}"/>
              </a:ext>
            </a:extLst>
          </p:cNvPr>
          <p:cNvSpPr/>
          <p:nvPr/>
        </p:nvSpPr>
        <p:spPr>
          <a:xfrm>
            <a:off x="8192635" y="2429256"/>
            <a:ext cx="1342417" cy="4770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a="text", b=2, c=1</a:t>
            </a:r>
            <a:endParaRPr lang="en-US" sz="98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8FC0DE58-4339-8628-4085-2A7911A8E784}"/>
              </a:ext>
            </a:extLst>
          </p:cNvPr>
          <p:cNvSpPr/>
          <p:nvPr/>
        </p:nvSpPr>
        <p:spPr>
          <a:xfrm>
            <a:off x="9571628" y="2397252"/>
            <a:ext cx="1748644" cy="541020"/>
          </a:xfrm>
          <a:prstGeom prst="rect">
            <a:avLst/>
          </a:prstGeom>
          <a:solidFill>
            <a:srgbClr val="FFFFFF"/>
          </a:solidFill>
          <a:ln w="4445">
            <a:solidFill>
              <a:srgbClr val="B9C7D6"/>
            </a:solidFill>
            <a:prstDash val="solid"/>
          </a:ln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0B301308-5A3A-4914-DEAC-0DD78BF73137}"/>
              </a:ext>
            </a:extLst>
          </p:cNvPr>
          <p:cNvSpPr/>
          <p:nvPr/>
        </p:nvSpPr>
        <p:spPr>
          <a:xfrm>
            <a:off x="9608204" y="2429256"/>
            <a:ext cx="1675492" cy="4770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ValueError: tip invalid</a:t>
            </a:r>
            <a:endParaRPr lang="en-US" sz="98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83B280D2-4F97-6573-6A6A-292C9F4AD3A4}"/>
              </a:ext>
            </a:extLst>
          </p:cNvPr>
          <p:cNvSpPr/>
          <p:nvPr/>
        </p:nvSpPr>
        <p:spPr>
          <a:xfrm>
            <a:off x="7406640" y="2938272"/>
            <a:ext cx="749419" cy="541020"/>
          </a:xfrm>
          <a:prstGeom prst="rect">
            <a:avLst/>
          </a:prstGeom>
          <a:solidFill>
            <a:srgbClr val="F1F6FB"/>
          </a:solidFill>
          <a:ln w="4445">
            <a:solidFill>
              <a:srgbClr val="B9C7D6"/>
            </a:solidFill>
            <a:prstDash val="solid"/>
          </a:ln>
        </p:spPr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44BD189D-1E38-D5AB-3753-A6C5C917ACD4}"/>
              </a:ext>
            </a:extLst>
          </p:cNvPr>
          <p:cNvSpPr/>
          <p:nvPr/>
        </p:nvSpPr>
        <p:spPr>
          <a:xfrm>
            <a:off x="7443216" y="2970276"/>
            <a:ext cx="676267" cy="4770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TC_CE_02</a:t>
            </a:r>
            <a:endParaRPr lang="en-US" sz="98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BA28A78F-1DAE-FE09-D2DC-CC32079CB613}"/>
              </a:ext>
            </a:extLst>
          </p:cNvPr>
          <p:cNvSpPr/>
          <p:nvPr/>
        </p:nvSpPr>
        <p:spPr>
          <a:xfrm>
            <a:off x="8156059" y="2938272"/>
            <a:ext cx="1415569" cy="541020"/>
          </a:xfrm>
          <a:prstGeom prst="rect">
            <a:avLst/>
          </a:prstGeom>
          <a:solidFill>
            <a:srgbClr val="F1F6FB"/>
          </a:solidFill>
          <a:ln w="4445">
            <a:solidFill>
              <a:srgbClr val="B9C7D6"/>
            </a:solidFill>
            <a:prstDash val="solid"/>
          </a:ln>
        </p:spPr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9065B817-8C44-50F4-C97B-92C00CDF045D}"/>
              </a:ext>
            </a:extLst>
          </p:cNvPr>
          <p:cNvSpPr/>
          <p:nvPr/>
        </p:nvSpPr>
        <p:spPr>
          <a:xfrm>
            <a:off x="8192635" y="2970276"/>
            <a:ext cx="1342417" cy="4770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a=0, b=2, c=1</a:t>
            </a:r>
            <a:endParaRPr lang="en-US" sz="98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9BC71D89-647E-76F6-D89E-28F92681265B}"/>
              </a:ext>
            </a:extLst>
          </p:cNvPr>
          <p:cNvSpPr/>
          <p:nvPr/>
        </p:nvSpPr>
        <p:spPr>
          <a:xfrm>
            <a:off x="9571628" y="2938272"/>
            <a:ext cx="1748644" cy="541020"/>
          </a:xfrm>
          <a:prstGeom prst="rect">
            <a:avLst/>
          </a:prstGeom>
          <a:solidFill>
            <a:srgbClr val="F1F6FB"/>
          </a:solidFill>
          <a:ln w="4445">
            <a:solidFill>
              <a:srgbClr val="B9C7D6"/>
            </a:solidFill>
            <a:prstDash val="solid"/>
          </a:ln>
        </p:spPr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FF39F6BB-F09D-75D6-A0FF-616B802F9675}"/>
              </a:ext>
            </a:extLst>
          </p:cNvPr>
          <p:cNvSpPr/>
          <p:nvPr/>
        </p:nvSpPr>
        <p:spPr>
          <a:xfrm>
            <a:off x="9608204" y="2970276"/>
            <a:ext cx="1675492" cy="4770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ValueError: a nu poate fi 0</a:t>
            </a:r>
            <a:endParaRPr lang="en-US" sz="98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84658492-E71D-8691-DA41-68B57CBBB7E4}"/>
              </a:ext>
            </a:extLst>
          </p:cNvPr>
          <p:cNvSpPr/>
          <p:nvPr/>
        </p:nvSpPr>
        <p:spPr>
          <a:xfrm>
            <a:off x="7406640" y="3479292"/>
            <a:ext cx="749419" cy="541020"/>
          </a:xfrm>
          <a:prstGeom prst="rect">
            <a:avLst/>
          </a:prstGeom>
          <a:solidFill>
            <a:srgbClr val="FFFFFF"/>
          </a:solidFill>
          <a:ln w="4445">
            <a:solidFill>
              <a:srgbClr val="B9C7D6"/>
            </a:solidFill>
            <a:prstDash val="solid"/>
          </a:ln>
        </p:spPr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76241DF7-D39D-CD1F-D4BB-451B43DB1786}"/>
              </a:ext>
            </a:extLst>
          </p:cNvPr>
          <p:cNvSpPr/>
          <p:nvPr/>
        </p:nvSpPr>
        <p:spPr>
          <a:xfrm>
            <a:off x="7443216" y="3511296"/>
            <a:ext cx="676267" cy="4770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TC_CE_03</a:t>
            </a:r>
            <a:endParaRPr lang="en-US" sz="98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44641C65-B0D8-4C89-729B-F8982AABCE1F}"/>
              </a:ext>
            </a:extLst>
          </p:cNvPr>
          <p:cNvSpPr/>
          <p:nvPr/>
        </p:nvSpPr>
        <p:spPr>
          <a:xfrm>
            <a:off x="8156059" y="3479292"/>
            <a:ext cx="1415569" cy="541020"/>
          </a:xfrm>
          <a:prstGeom prst="rect">
            <a:avLst/>
          </a:prstGeom>
          <a:solidFill>
            <a:srgbClr val="FFFFFF"/>
          </a:solidFill>
          <a:ln w="4445">
            <a:solidFill>
              <a:srgbClr val="B9C7D6"/>
            </a:solidFill>
            <a:prstDash val="solid"/>
          </a:ln>
        </p:spPr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36F9D634-72D4-F685-7C9F-0FB4F6F4933C}"/>
              </a:ext>
            </a:extLst>
          </p:cNvPr>
          <p:cNvSpPr/>
          <p:nvPr/>
        </p:nvSpPr>
        <p:spPr>
          <a:xfrm>
            <a:off x="8192635" y="3511296"/>
            <a:ext cx="1342417" cy="4770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a=1, b=1, c=1</a:t>
            </a:r>
            <a:endParaRPr lang="en-US" sz="98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631286E7-3970-1D65-529A-5CEF55D6B29D}"/>
              </a:ext>
            </a:extLst>
          </p:cNvPr>
          <p:cNvSpPr/>
          <p:nvPr/>
        </p:nvSpPr>
        <p:spPr>
          <a:xfrm>
            <a:off x="9571628" y="3479292"/>
            <a:ext cx="1748644" cy="541020"/>
          </a:xfrm>
          <a:prstGeom prst="rect">
            <a:avLst/>
          </a:prstGeom>
          <a:solidFill>
            <a:srgbClr val="FFFFFF"/>
          </a:solidFill>
          <a:ln w="4445">
            <a:solidFill>
              <a:srgbClr val="B9C7D6"/>
            </a:solidFill>
            <a:prstDash val="solid"/>
          </a:ln>
        </p:spPr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2F346273-A6CB-5998-5253-19349EC08CEF}"/>
              </a:ext>
            </a:extLst>
          </p:cNvPr>
          <p:cNvSpPr/>
          <p:nvPr/>
        </p:nvSpPr>
        <p:spPr>
          <a:xfrm>
            <a:off x="9608204" y="3511296"/>
            <a:ext cx="1675492" cy="4770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două rădăcini complexe</a:t>
            </a:r>
            <a:endParaRPr lang="en-US" sz="98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727EDEBB-617F-92BF-4898-4488AAD097BB}"/>
              </a:ext>
            </a:extLst>
          </p:cNvPr>
          <p:cNvSpPr/>
          <p:nvPr/>
        </p:nvSpPr>
        <p:spPr>
          <a:xfrm>
            <a:off x="7406640" y="4020312"/>
            <a:ext cx="749419" cy="541020"/>
          </a:xfrm>
          <a:prstGeom prst="rect">
            <a:avLst/>
          </a:prstGeom>
          <a:solidFill>
            <a:srgbClr val="F1F6FB"/>
          </a:solidFill>
          <a:ln w="4445">
            <a:solidFill>
              <a:srgbClr val="B9C7D6"/>
            </a:solidFill>
            <a:prstDash val="solid"/>
          </a:ln>
        </p:spPr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852B9AFE-2659-8C65-CF3F-DA7809609F56}"/>
              </a:ext>
            </a:extLst>
          </p:cNvPr>
          <p:cNvSpPr/>
          <p:nvPr/>
        </p:nvSpPr>
        <p:spPr>
          <a:xfrm>
            <a:off x="7443216" y="4052316"/>
            <a:ext cx="676267" cy="4770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TC_CE_04</a:t>
            </a:r>
            <a:endParaRPr lang="en-US" sz="98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C97E88AE-03C2-691F-8525-5AECBBC7C1B6}"/>
              </a:ext>
            </a:extLst>
          </p:cNvPr>
          <p:cNvSpPr/>
          <p:nvPr/>
        </p:nvSpPr>
        <p:spPr>
          <a:xfrm>
            <a:off x="8156059" y="4020312"/>
            <a:ext cx="1415569" cy="541020"/>
          </a:xfrm>
          <a:prstGeom prst="rect">
            <a:avLst/>
          </a:prstGeom>
          <a:solidFill>
            <a:srgbClr val="F1F6FB"/>
          </a:solidFill>
          <a:ln w="4445">
            <a:solidFill>
              <a:srgbClr val="B9C7D6"/>
            </a:solidFill>
            <a:prstDash val="solid"/>
          </a:ln>
        </p:spPr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1948C162-6A9B-F632-B65C-D6204B58B2E8}"/>
              </a:ext>
            </a:extLst>
          </p:cNvPr>
          <p:cNvSpPr/>
          <p:nvPr/>
        </p:nvSpPr>
        <p:spPr>
          <a:xfrm>
            <a:off x="8192635" y="4052316"/>
            <a:ext cx="1342417" cy="4770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a=1, b=2, c=1</a:t>
            </a:r>
            <a:endParaRPr lang="en-US" sz="980" dirty="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36F4D5F9-D545-99CB-087D-40CA4994EC33}"/>
              </a:ext>
            </a:extLst>
          </p:cNvPr>
          <p:cNvSpPr/>
          <p:nvPr/>
        </p:nvSpPr>
        <p:spPr>
          <a:xfrm>
            <a:off x="9571628" y="4020312"/>
            <a:ext cx="1748644" cy="541020"/>
          </a:xfrm>
          <a:prstGeom prst="rect">
            <a:avLst/>
          </a:prstGeom>
          <a:solidFill>
            <a:srgbClr val="F1F6FB"/>
          </a:solidFill>
          <a:ln w="4445">
            <a:solidFill>
              <a:srgbClr val="B9C7D6"/>
            </a:solidFill>
            <a:prstDash val="solid"/>
          </a:ln>
        </p:spPr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A5CB8753-F6EF-B750-DE75-36A316444654}"/>
              </a:ext>
            </a:extLst>
          </p:cNvPr>
          <p:cNvSpPr/>
          <p:nvPr/>
        </p:nvSpPr>
        <p:spPr>
          <a:xfrm>
            <a:off x="9608204" y="4052316"/>
            <a:ext cx="1675492" cy="4770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rădăcină reală dublă</a:t>
            </a:r>
            <a:endParaRPr lang="en-US" sz="980" dirty="0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7E4EF6F5-3AC3-5EDE-DEFA-AEA8902026B8}"/>
              </a:ext>
            </a:extLst>
          </p:cNvPr>
          <p:cNvSpPr/>
          <p:nvPr/>
        </p:nvSpPr>
        <p:spPr>
          <a:xfrm>
            <a:off x="7406640" y="4561332"/>
            <a:ext cx="749419" cy="541020"/>
          </a:xfrm>
          <a:prstGeom prst="rect">
            <a:avLst/>
          </a:prstGeom>
          <a:solidFill>
            <a:srgbClr val="FFFFFF"/>
          </a:solidFill>
          <a:ln w="4445">
            <a:solidFill>
              <a:srgbClr val="B9C7D6"/>
            </a:solidFill>
            <a:prstDash val="solid"/>
          </a:ln>
        </p:spPr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4EE1FF2E-E348-9BFE-5F0C-E462E1A6EDCC}"/>
              </a:ext>
            </a:extLst>
          </p:cNvPr>
          <p:cNvSpPr/>
          <p:nvPr/>
        </p:nvSpPr>
        <p:spPr>
          <a:xfrm>
            <a:off x="7443216" y="4593336"/>
            <a:ext cx="676267" cy="4770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TC_CE_05</a:t>
            </a:r>
            <a:endParaRPr lang="en-US" sz="98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7F6A24C0-6ED2-BBE9-F72C-30E398182C8C}"/>
              </a:ext>
            </a:extLst>
          </p:cNvPr>
          <p:cNvSpPr/>
          <p:nvPr/>
        </p:nvSpPr>
        <p:spPr>
          <a:xfrm>
            <a:off x="8156059" y="4561332"/>
            <a:ext cx="1415569" cy="541020"/>
          </a:xfrm>
          <a:prstGeom prst="rect">
            <a:avLst/>
          </a:prstGeom>
          <a:solidFill>
            <a:srgbClr val="FFFFFF"/>
          </a:solidFill>
          <a:ln w="4445">
            <a:solidFill>
              <a:srgbClr val="B9C7D6"/>
            </a:solidFill>
            <a:prstDash val="solid"/>
          </a:ln>
        </p:spPr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BDB2F964-184D-50EE-D027-A1B371865463}"/>
              </a:ext>
            </a:extLst>
          </p:cNvPr>
          <p:cNvSpPr/>
          <p:nvPr/>
        </p:nvSpPr>
        <p:spPr>
          <a:xfrm>
            <a:off x="8192635" y="4593336"/>
            <a:ext cx="1342417" cy="4770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a=1, b=5, c=6</a:t>
            </a:r>
            <a:endParaRPr lang="en-US" sz="980" dirty="0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00FF7B82-941C-E130-4C76-0798CDC1C550}"/>
              </a:ext>
            </a:extLst>
          </p:cNvPr>
          <p:cNvSpPr/>
          <p:nvPr/>
        </p:nvSpPr>
        <p:spPr>
          <a:xfrm>
            <a:off x="9571628" y="4561332"/>
            <a:ext cx="1748644" cy="541020"/>
          </a:xfrm>
          <a:prstGeom prst="rect">
            <a:avLst/>
          </a:prstGeom>
          <a:solidFill>
            <a:srgbClr val="FFFFFF"/>
          </a:solidFill>
          <a:ln w="4445">
            <a:solidFill>
              <a:srgbClr val="B9C7D6"/>
            </a:solidFill>
            <a:prstDash val="solid"/>
          </a:ln>
        </p:spPr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EA363A07-5F1D-5DA3-F469-6F4A25FD23C8}"/>
              </a:ext>
            </a:extLst>
          </p:cNvPr>
          <p:cNvSpPr/>
          <p:nvPr/>
        </p:nvSpPr>
        <p:spPr>
          <a:xfrm>
            <a:off x="9608204" y="4593336"/>
            <a:ext cx="1675492" cy="4770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două rădăcini reale distincte</a:t>
            </a:r>
            <a:endParaRPr lang="en-US" sz="980" dirty="0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54A8C436-48CB-6C54-38DF-041A7C7648D7}"/>
              </a:ext>
            </a:extLst>
          </p:cNvPr>
          <p:cNvSpPr/>
          <p:nvPr/>
        </p:nvSpPr>
        <p:spPr>
          <a:xfrm>
            <a:off x="713232" y="5715000"/>
            <a:ext cx="10469880" cy="411480"/>
          </a:xfrm>
          <a:prstGeom prst="roundRect">
            <a:avLst>
              <a:gd name="adj" fmla="val 17778"/>
            </a:avLst>
          </a:prstGeom>
          <a:solidFill>
            <a:srgbClr val="EAF2FF"/>
          </a:solidFill>
          <a:ln w="6985">
            <a:solidFill>
              <a:srgbClr val="BCD3FF"/>
            </a:solidFill>
            <a:prstDash val="solid"/>
          </a:ln>
        </p:spPr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8025222D-ED41-739A-2BCB-7929CCEA6C10}"/>
              </a:ext>
            </a:extLst>
          </p:cNvPr>
          <p:cNvSpPr/>
          <p:nvPr/>
        </p:nvSpPr>
        <p:spPr>
          <a:xfrm>
            <a:off x="914400" y="5797296"/>
            <a:ext cx="10058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%"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7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Mesaj-cheie: CE asigură că fiecare ieșire posibilă are cel puțin un test reprezentativ.</a:t>
            </a:r>
            <a:endParaRPr lang="en-US" sz="1320" dirty="0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DD200059-26A3-9D73-26CD-A4B893AB0D80}"/>
              </a:ext>
            </a:extLst>
          </p:cNvPr>
          <p:cNvSpPr/>
          <p:nvPr/>
        </p:nvSpPr>
        <p:spPr>
          <a:xfrm>
            <a:off x="11164824" y="62727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883316551"/>
      </p:ext>
    </p:extLst>
  </p:cSld>
  <p:clrMapOvr>
    <a:masterClrMapping/>
  </p:clrMapOvr>
</p:sld>
</file>

<file path=ppt/slides/slide6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282410C-B5A4-D606-EBB8-0F20712E27A4}"/>
              </a:ext>
            </a:extLst>
          </p:cNvPr>
          <p:cNvSpPr/>
          <p:nvPr/>
        </p:nvSpPr>
        <p:spPr>
          <a:xfrm>
            <a:off x="594360" y="6364224"/>
            <a:ext cx="10972800" cy="0"/>
          </a:xfrm>
          <a:prstGeom prst="line">
            <a:avLst/>
          </a:prstGeom>
          <a:noFill/>
          <a:ln w="15875">
            <a:solidFill>
              <a:srgbClr val="246BFE">
                <a:alpha val="75%"/>
              </a:srgbClr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F5BBC26-99E4-28A7-4024-543B9AE2D5BA}"/>
              </a:ext>
            </a:extLst>
          </p:cNvPr>
          <p:cNvSpPr/>
          <p:nvPr/>
        </p:nvSpPr>
        <p:spPr>
          <a:xfrm>
            <a:off x="667512" y="310896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246B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BLACK BOX TESTING</a:t>
            </a:r>
            <a:endParaRPr lang="en-US" sz="93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2474BBF-B644-FFEC-C694-63047324FDB1}"/>
              </a:ext>
            </a:extLst>
          </p:cNvPr>
          <p:cNvSpPr/>
          <p:nvPr/>
        </p:nvSpPr>
        <p:spPr>
          <a:xfrm>
            <a:off x="640080" y="786384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5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AVF și PC: testăm limitele și combinațiile</a:t>
            </a:r>
            <a:endParaRPr lang="en-US" sz="30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143B7F9-265A-516B-4E23-92E54AF68196}"/>
              </a:ext>
            </a:extLst>
          </p:cNvPr>
          <p:cNvSpPr/>
          <p:nvPr/>
        </p:nvSpPr>
        <p:spPr>
          <a:xfrm>
            <a:off x="731520" y="1417320"/>
            <a:ext cx="106984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După clasele mari, ne concentrăm pe frontiere și pe combinarea controlată a alternativelor.</a:t>
            </a:r>
            <a:endParaRPr lang="en-US" sz="18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57FD512-D2A8-1B25-1166-75F80105AECF}"/>
              </a:ext>
            </a:extLst>
          </p:cNvPr>
          <p:cNvSpPr/>
          <p:nvPr/>
        </p:nvSpPr>
        <p:spPr>
          <a:xfrm>
            <a:off x="822960" y="1874520"/>
            <a:ext cx="507492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9525">
            <a:solidFill>
              <a:srgbClr val="D7E1EA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F560DE5-86E5-713D-2640-0AD9BCDA4B60}"/>
              </a:ext>
            </a:extLst>
          </p:cNvPr>
          <p:cNvSpPr/>
          <p:nvPr/>
        </p:nvSpPr>
        <p:spPr>
          <a:xfrm>
            <a:off x="1097280" y="2148840"/>
            <a:ext cx="4389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%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AVF: valori critice</a:t>
            </a:r>
            <a:endParaRPr lang="en-US" sz="1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EB8D187-796E-DE33-996F-3DC927B9746A}"/>
              </a:ext>
            </a:extLst>
          </p:cNvPr>
          <p:cNvSpPr/>
          <p:nvPr/>
        </p:nvSpPr>
        <p:spPr>
          <a:xfrm>
            <a:off x="1234440" y="2788920"/>
            <a:ext cx="4114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%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46B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→ 0⁻   |   a = 0   |   a → 0⁺</a:t>
            </a:r>
            <a:endParaRPr lang="en-US" sz="19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B53A208-B5C2-B284-FB90-1FDA226AC077}"/>
              </a:ext>
            </a:extLst>
          </p:cNvPr>
          <p:cNvSpPr/>
          <p:nvPr/>
        </p:nvSpPr>
        <p:spPr>
          <a:xfrm>
            <a:off x="1417320" y="3273552"/>
            <a:ext cx="3639312" cy="0"/>
          </a:xfrm>
          <a:prstGeom prst="line">
            <a:avLst/>
          </a:prstGeom>
          <a:noFill/>
          <a:ln w="25400">
            <a:solidFill>
              <a:srgbClr val="246BFE"/>
            </a:solidFill>
            <a:prstDash val="solid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A5B3681-0C91-4592-B62F-D28591FF0353}"/>
              </a:ext>
            </a:extLst>
          </p:cNvPr>
          <p:cNvSpPr/>
          <p:nvPr/>
        </p:nvSpPr>
        <p:spPr>
          <a:xfrm>
            <a:off x="2606040" y="3172968"/>
            <a:ext cx="201168" cy="201168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>
                <a:alpha val="0%"/>
              </a:srgbClr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CCB0855-7E65-3D94-B2EB-0D56A68BF321}"/>
              </a:ext>
            </a:extLst>
          </p:cNvPr>
          <p:cNvSpPr/>
          <p:nvPr/>
        </p:nvSpPr>
        <p:spPr>
          <a:xfrm>
            <a:off x="1234440" y="3886200"/>
            <a:ext cx="4114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%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→ 0⁻   |   Δ = 0   |   Δ → 0⁺</a:t>
            </a:r>
            <a:endParaRPr lang="en-US" sz="19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95536CB-13DF-E1AC-0190-16302356B1ED}"/>
              </a:ext>
            </a:extLst>
          </p:cNvPr>
          <p:cNvSpPr/>
          <p:nvPr/>
        </p:nvSpPr>
        <p:spPr>
          <a:xfrm>
            <a:off x="1417320" y="4370832"/>
            <a:ext cx="3639312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C6B17D4-BFCF-566F-CCBA-F48096370A47}"/>
              </a:ext>
            </a:extLst>
          </p:cNvPr>
          <p:cNvSpPr/>
          <p:nvPr/>
        </p:nvSpPr>
        <p:spPr>
          <a:xfrm>
            <a:off x="3127248" y="4270248"/>
            <a:ext cx="201168" cy="201168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>
                <a:alpha val="0%"/>
              </a:srgbClr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6789A57-880C-3554-2D89-19DEA39D8DB5}"/>
              </a:ext>
            </a:extLst>
          </p:cNvPr>
          <p:cNvSpPr/>
          <p:nvPr/>
        </p:nvSpPr>
        <p:spPr>
          <a:xfrm>
            <a:off x="6309360" y="1874520"/>
            <a:ext cx="4983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9525">
            <a:solidFill>
              <a:srgbClr val="D7E1EA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0033148-394A-1084-898C-1B99FAAEEA43}"/>
              </a:ext>
            </a:extLst>
          </p:cNvPr>
          <p:cNvSpPr/>
          <p:nvPr/>
        </p:nvSpPr>
        <p:spPr>
          <a:xfrm>
            <a:off x="6629400" y="2148840"/>
            <a:ext cx="43434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%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PC: alternative + constrângeri</a:t>
            </a:r>
            <a:endParaRPr lang="en-US" sz="18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0FCFA92-82FB-18B2-8C01-924240A4A54C}"/>
              </a:ext>
            </a:extLst>
          </p:cNvPr>
          <p:cNvSpPr/>
          <p:nvPr/>
        </p:nvSpPr>
        <p:spPr>
          <a:xfrm>
            <a:off x="6748272" y="2788920"/>
            <a:ext cx="658368" cy="347472"/>
          </a:xfrm>
          <a:prstGeom prst="roundRect">
            <a:avLst>
              <a:gd name="adj" fmla="val 21053"/>
            </a:avLst>
          </a:prstGeom>
          <a:solidFill>
            <a:srgbClr val="246BFE"/>
          </a:solidFill>
          <a:ln w="12700">
            <a:solidFill>
              <a:srgbClr val="246BFE">
                <a:alpha val="0%"/>
              </a:srgbClr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CA2F78B-4D0F-A5A7-2ADD-6FF55312F2FC}"/>
              </a:ext>
            </a:extLst>
          </p:cNvPr>
          <p:cNvSpPr/>
          <p:nvPr/>
        </p:nvSpPr>
        <p:spPr>
          <a:xfrm>
            <a:off x="6821424" y="2816352"/>
            <a:ext cx="51206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53E5A1C-0275-31A9-4B17-0FAE0CCCE78B}"/>
              </a:ext>
            </a:extLst>
          </p:cNvPr>
          <p:cNvSpPr/>
          <p:nvPr/>
        </p:nvSpPr>
        <p:spPr>
          <a:xfrm>
            <a:off x="7571232" y="2798064"/>
            <a:ext cx="340156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invalid | 0 | aproape 0 | normal</a:t>
            </a:r>
            <a:endParaRPr lang="en-US" sz="135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F0CACA37-0AF5-3F32-00C2-0675E40AA0E7}"/>
              </a:ext>
            </a:extLst>
          </p:cNvPr>
          <p:cNvSpPr/>
          <p:nvPr/>
        </p:nvSpPr>
        <p:spPr>
          <a:xfrm>
            <a:off x="6748272" y="3401568"/>
            <a:ext cx="658368" cy="347472"/>
          </a:xfrm>
          <a:prstGeom prst="roundRect">
            <a:avLst>
              <a:gd name="adj" fmla="val 21053"/>
            </a:avLst>
          </a:prstGeom>
          <a:solidFill>
            <a:srgbClr val="37D6C7"/>
          </a:solidFill>
          <a:ln w="12700">
            <a:solidFill>
              <a:srgbClr val="37D6C7">
                <a:alpha val="0%"/>
              </a:srgbClr>
            </a:solidFill>
            <a:prstDash val="solid"/>
          </a:ln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7C40355-24DF-B4BE-B81D-85BFE3DA4332}"/>
              </a:ext>
            </a:extLst>
          </p:cNvPr>
          <p:cNvSpPr/>
          <p:nvPr/>
        </p:nvSpPr>
        <p:spPr>
          <a:xfrm>
            <a:off x="6821424" y="3429000"/>
            <a:ext cx="51206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b,c</a:t>
            </a:r>
            <a:endParaRPr lang="en-US" sz="12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2CC9ED5-1DE7-2F00-CA5C-ED5637110440}"/>
              </a:ext>
            </a:extLst>
          </p:cNvPr>
          <p:cNvSpPr/>
          <p:nvPr/>
        </p:nvSpPr>
        <p:spPr>
          <a:xfrm>
            <a:off x="7571232" y="3410712"/>
            <a:ext cx="340156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 / invalid</a:t>
            </a:r>
            <a:endParaRPr lang="en-US" sz="135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8004B379-9587-5C0E-0BD3-1E45BEB4A654}"/>
              </a:ext>
            </a:extLst>
          </p:cNvPr>
          <p:cNvSpPr/>
          <p:nvPr/>
        </p:nvSpPr>
        <p:spPr>
          <a:xfrm>
            <a:off x="6748272" y="4014216"/>
            <a:ext cx="658368" cy="347472"/>
          </a:xfrm>
          <a:prstGeom prst="roundRect">
            <a:avLst>
              <a:gd name="adj" fmla="val 21053"/>
            </a:avLst>
          </a:prstGeom>
          <a:solidFill>
            <a:srgbClr val="6D5DFE"/>
          </a:solidFill>
          <a:ln w="12700">
            <a:solidFill>
              <a:srgbClr val="6D5DFE">
                <a:alpha val="0%"/>
              </a:srgbClr>
            </a:solidFill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B4D92A1-7A0C-B014-6594-610C4F756C99}"/>
              </a:ext>
            </a:extLst>
          </p:cNvPr>
          <p:cNvSpPr/>
          <p:nvPr/>
        </p:nvSpPr>
        <p:spPr>
          <a:xfrm>
            <a:off x="6821424" y="4041648"/>
            <a:ext cx="51206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</a:t>
            </a:r>
            <a:endParaRPr lang="en-US" sz="12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C59C4252-6D48-67E9-AA4C-B7F68E3EE245}"/>
              </a:ext>
            </a:extLst>
          </p:cNvPr>
          <p:cNvSpPr/>
          <p:nvPr/>
        </p:nvSpPr>
        <p:spPr>
          <a:xfrm>
            <a:off x="7571232" y="4023360"/>
            <a:ext cx="340156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&lt;0 | =0 | &gt;0 | lângă 0</a:t>
            </a:r>
            <a:endParaRPr lang="en-US" sz="135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B38F1BE4-581F-9629-2119-EEF13CE0369E}"/>
              </a:ext>
            </a:extLst>
          </p:cNvPr>
          <p:cNvSpPr/>
          <p:nvPr/>
        </p:nvSpPr>
        <p:spPr>
          <a:xfrm>
            <a:off x="6903720" y="4498848"/>
            <a:ext cx="155448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E4575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</a:t>
            </a:r>
            <a:endParaRPr lang="en-US" sz="29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60B60CF7-EED7-B2DD-CCD5-3B739207051E}"/>
              </a:ext>
            </a:extLst>
          </p:cNvPr>
          <p:cNvSpPr/>
          <p:nvPr/>
        </p:nvSpPr>
        <p:spPr>
          <a:xfrm>
            <a:off x="6903720" y="5038344"/>
            <a:ext cx="155448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combinații brute</a:t>
            </a:r>
            <a:endParaRPr lang="en-US" sz="125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33C769FE-3A01-2CF0-D5A4-35B910D213F5}"/>
              </a:ext>
            </a:extLst>
          </p:cNvPr>
          <p:cNvSpPr/>
          <p:nvPr/>
        </p:nvSpPr>
        <p:spPr>
          <a:xfrm>
            <a:off x="9189720" y="4498848"/>
            <a:ext cx="155448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2EAD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29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B9D5D07E-92BD-F7C4-CE0C-2E3BBB42F8DB}"/>
              </a:ext>
            </a:extLst>
          </p:cNvPr>
          <p:cNvSpPr/>
          <p:nvPr/>
        </p:nvSpPr>
        <p:spPr>
          <a:xfrm>
            <a:off x="9189720" y="5038344"/>
            <a:ext cx="155448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scenarii relevante</a:t>
            </a:r>
            <a:endParaRPr lang="en-US" sz="125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F8928BFB-0FE5-0D9A-914C-39AB28E17C06}"/>
              </a:ext>
            </a:extLst>
          </p:cNvPr>
          <p:cNvSpPr/>
          <p:nvPr/>
        </p:nvSpPr>
        <p:spPr>
          <a:xfrm>
            <a:off x="713232" y="5715000"/>
            <a:ext cx="10469880" cy="411480"/>
          </a:xfrm>
          <a:prstGeom prst="roundRect">
            <a:avLst>
              <a:gd name="adj" fmla="val 17778"/>
            </a:avLst>
          </a:prstGeom>
          <a:solidFill>
            <a:srgbClr val="EAF2FF"/>
          </a:solidFill>
          <a:ln w="6985">
            <a:solidFill>
              <a:srgbClr val="BCD3FF"/>
            </a:solidFill>
            <a:prstDash val="solid"/>
          </a:ln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89C254E2-07B0-CFB8-B0B2-FA0B7A02C744}"/>
              </a:ext>
            </a:extLst>
          </p:cNvPr>
          <p:cNvSpPr/>
          <p:nvPr/>
        </p:nvSpPr>
        <p:spPr>
          <a:xfrm>
            <a:off x="914400" y="5797296"/>
            <a:ext cx="10058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%"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7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Mesaj-cheie: AVF prinde erori de limită, iar PC reduce combinațiile la scenarii utile.</a:t>
            </a:r>
            <a:endParaRPr lang="en-US" sz="132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92391036-2BD0-6845-C74C-A012B4090F93}"/>
              </a:ext>
            </a:extLst>
          </p:cNvPr>
          <p:cNvSpPr/>
          <p:nvPr/>
        </p:nvSpPr>
        <p:spPr>
          <a:xfrm>
            <a:off x="11164824" y="62727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048617690"/>
      </p:ext>
    </p:extLst>
  </p:cSld>
  <p:clrMapOvr>
    <a:masterClrMapping/>
  </p:clrMapOvr>
</p:sld>
</file>

<file path=ppt/slides/slide7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31420DF-480D-6D5C-4BE9-97A0128C482D}"/>
              </a:ext>
            </a:extLst>
          </p:cNvPr>
          <p:cNvSpPr/>
          <p:nvPr/>
        </p:nvSpPr>
        <p:spPr>
          <a:xfrm>
            <a:off x="594360" y="6364224"/>
            <a:ext cx="10972800" cy="0"/>
          </a:xfrm>
          <a:prstGeom prst="line">
            <a:avLst/>
          </a:prstGeom>
          <a:noFill/>
          <a:ln w="15875">
            <a:solidFill>
              <a:srgbClr val="246BFE">
                <a:alpha val="75%"/>
              </a:srgbClr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EB5FFCC-1DF4-7233-28DE-2F57D8C53C06}"/>
              </a:ext>
            </a:extLst>
          </p:cNvPr>
          <p:cNvSpPr/>
          <p:nvPr/>
        </p:nvSpPr>
        <p:spPr>
          <a:xfrm>
            <a:off x="667512" y="310896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246B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 JUSTIFICĂM CAZURILE ALESE</a:t>
            </a:r>
            <a:endParaRPr lang="en-US" sz="93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4DE48D4-0EC9-C11A-7E70-B1556F29FC32}"/>
              </a:ext>
            </a:extLst>
          </p:cNvPr>
          <p:cNvSpPr/>
          <p:nvPr/>
        </p:nvSpPr>
        <p:spPr>
          <a:xfrm>
            <a:off x="640080" y="786384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5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la risc la test</a:t>
            </a:r>
            <a:endParaRPr lang="en-US" sz="30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70E961D-8172-B9F5-38ED-ABC512EB676C}"/>
              </a:ext>
            </a:extLst>
          </p:cNvPr>
          <p:cNvSpPr/>
          <p:nvPr/>
        </p:nvSpPr>
        <p:spPr>
          <a:xfrm>
            <a:off x="731520" y="1417320"/>
            <a:ext cx="106070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Fiecare test important are o justificare: acoperă o ramură, o frontieră sau o eroare posibilă.</a:t>
            </a:r>
            <a:endParaRPr lang="en-US" sz="18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A400AD5-2605-927B-FDDC-E8CE15D55F57}"/>
              </a:ext>
            </a:extLst>
          </p:cNvPr>
          <p:cNvSpPr/>
          <p:nvPr/>
        </p:nvSpPr>
        <p:spPr>
          <a:xfrm>
            <a:off x="868680" y="1874520"/>
            <a:ext cx="1863090" cy="591312"/>
          </a:xfrm>
          <a:prstGeom prst="rect">
            <a:avLst/>
          </a:prstGeom>
          <a:solidFill>
            <a:srgbClr val="0B2740"/>
          </a:solidFill>
          <a:ln w="4445">
            <a:solidFill>
              <a:srgbClr val="B9C7D6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4B7E8F3-51B0-2523-B9D4-C2EE5EC1A5BC}"/>
              </a:ext>
            </a:extLst>
          </p:cNvPr>
          <p:cNvSpPr/>
          <p:nvPr/>
        </p:nvSpPr>
        <p:spPr>
          <a:xfrm>
            <a:off x="905256" y="1906524"/>
            <a:ext cx="1789938" cy="527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Risc / condiție</a:t>
            </a:r>
            <a:endParaRPr lang="en-US" sz="102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B23C85D-33C1-B654-F126-0D1E9A215504}"/>
              </a:ext>
            </a:extLst>
          </p:cNvPr>
          <p:cNvSpPr/>
          <p:nvPr/>
        </p:nvSpPr>
        <p:spPr>
          <a:xfrm>
            <a:off x="2731770" y="1874520"/>
            <a:ext cx="2569779" cy="591312"/>
          </a:xfrm>
          <a:prstGeom prst="rect">
            <a:avLst/>
          </a:prstGeom>
          <a:solidFill>
            <a:srgbClr val="0B2740"/>
          </a:solidFill>
          <a:ln w="4445">
            <a:solidFill>
              <a:srgbClr val="B9C7D6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07866F8-6D58-3124-2851-00FC5DCA2257}"/>
              </a:ext>
            </a:extLst>
          </p:cNvPr>
          <p:cNvSpPr/>
          <p:nvPr/>
        </p:nvSpPr>
        <p:spPr>
          <a:xfrm>
            <a:off x="2768346" y="1906524"/>
            <a:ext cx="2496627" cy="527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Exemplu test</a:t>
            </a:r>
            <a:endParaRPr lang="en-US" sz="102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CFCBEFA-DAC5-C57C-01F3-85EFCEC09AF9}"/>
              </a:ext>
            </a:extLst>
          </p:cNvPr>
          <p:cNvSpPr/>
          <p:nvPr/>
        </p:nvSpPr>
        <p:spPr>
          <a:xfrm>
            <a:off x="5301549" y="1874520"/>
            <a:ext cx="3019491" cy="591312"/>
          </a:xfrm>
          <a:prstGeom prst="rect">
            <a:avLst/>
          </a:prstGeom>
          <a:solidFill>
            <a:srgbClr val="0B2740"/>
          </a:solidFill>
          <a:ln w="4445">
            <a:solidFill>
              <a:srgbClr val="B9C7D6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5751286-A75B-70C2-8855-F514367A2D47}"/>
              </a:ext>
            </a:extLst>
          </p:cNvPr>
          <p:cNvSpPr/>
          <p:nvPr/>
        </p:nvSpPr>
        <p:spPr>
          <a:xfrm>
            <a:off x="5338125" y="1906524"/>
            <a:ext cx="2946339" cy="527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demonstrează</a:t>
            </a:r>
            <a:endParaRPr lang="en-US" sz="102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62235D4-B397-A639-AB39-A6D88A3CEB71}"/>
              </a:ext>
            </a:extLst>
          </p:cNvPr>
          <p:cNvSpPr/>
          <p:nvPr/>
        </p:nvSpPr>
        <p:spPr>
          <a:xfrm>
            <a:off x="868680" y="2465832"/>
            <a:ext cx="1863090" cy="591312"/>
          </a:xfrm>
          <a:prstGeom prst="rect">
            <a:avLst/>
          </a:prstGeom>
          <a:solidFill>
            <a:srgbClr val="FFFFFF"/>
          </a:solidFill>
          <a:ln w="4445">
            <a:solidFill>
              <a:srgbClr val="B9C7D6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99015D0-F319-9122-1946-6971727A6265}"/>
              </a:ext>
            </a:extLst>
          </p:cNvPr>
          <p:cNvSpPr/>
          <p:nvPr/>
        </p:nvSpPr>
        <p:spPr>
          <a:xfrm>
            <a:off x="905256" y="2497836"/>
            <a:ext cx="1789938" cy="527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 invalid</a:t>
            </a:r>
            <a:endParaRPr lang="en-US" sz="98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41056F64-952D-6587-FC48-4038AF217697}"/>
              </a:ext>
            </a:extLst>
          </p:cNvPr>
          <p:cNvSpPr/>
          <p:nvPr/>
        </p:nvSpPr>
        <p:spPr>
          <a:xfrm>
            <a:off x="2731770" y="2465832"/>
            <a:ext cx="2569779" cy="591312"/>
          </a:xfrm>
          <a:prstGeom prst="rect">
            <a:avLst/>
          </a:prstGeom>
          <a:solidFill>
            <a:srgbClr val="FFFFFF"/>
          </a:solidFill>
          <a:ln w="4445">
            <a:solidFill>
              <a:srgbClr val="B9C7D6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F390304-F748-3A29-2750-4BC6157AD73F}"/>
              </a:ext>
            </a:extLst>
          </p:cNvPr>
          <p:cNvSpPr/>
          <p:nvPr/>
        </p:nvSpPr>
        <p:spPr>
          <a:xfrm>
            <a:off x="2768346" y="2497836"/>
            <a:ext cx="2496627" cy="527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= "text" / b = None / c = []</a:t>
            </a:r>
            <a:endParaRPr lang="en-US" sz="98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63F807C4-02D8-4951-0EBA-F75296434BCC}"/>
              </a:ext>
            </a:extLst>
          </p:cNvPr>
          <p:cNvSpPr/>
          <p:nvPr/>
        </p:nvSpPr>
        <p:spPr>
          <a:xfrm>
            <a:off x="5301549" y="2465832"/>
            <a:ext cx="3019491" cy="591312"/>
          </a:xfrm>
          <a:prstGeom prst="rect">
            <a:avLst/>
          </a:prstGeom>
          <a:solidFill>
            <a:srgbClr val="FFFFFF"/>
          </a:solidFill>
          <a:ln w="4445">
            <a:solidFill>
              <a:srgbClr val="B9C7D6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8C73B6F-297D-1D14-6C17-D1BBC407D937}"/>
              </a:ext>
            </a:extLst>
          </p:cNvPr>
          <p:cNvSpPr/>
          <p:nvPr/>
        </p:nvSpPr>
        <p:spPr>
          <a:xfrm>
            <a:off x="5338125" y="2497836"/>
            <a:ext cx="2946339" cy="527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validarea oprește execuția corect</a:t>
            </a:r>
            <a:endParaRPr lang="en-US" sz="98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F95F57F5-E673-82B4-195D-85BA510F33A4}"/>
              </a:ext>
            </a:extLst>
          </p:cNvPr>
          <p:cNvSpPr/>
          <p:nvPr/>
        </p:nvSpPr>
        <p:spPr>
          <a:xfrm>
            <a:off x="868680" y="3057144"/>
            <a:ext cx="1863090" cy="591312"/>
          </a:xfrm>
          <a:prstGeom prst="rect">
            <a:avLst/>
          </a:prstGeom>
          <a:solidFill>
            <a:srgbClr val="F1F6FB"/>
          </a:solidFill>
          <a:ln w="4445">
            <a:solidFill>
              <a:srgbClr val="B9C7D6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726D0CD-BAD7-EE3D-1AD7-9014071E3D59}"/>
              </a:ext>
            </a:extLst>
          </p:cNvPr>
          <p:cNvSpPr/>
          <p:nvPr/>
        </p:nvSpPr>
        <p:spPr>
          <a:xfrm>
            <a:off x="905256" y="3089148"/>
            <a:ext cx="1789938" cy="527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= 0</a:t>
            </a:r>
            <a:endParaRPr lang="en-US" sz="98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8D740E4-3379-3B8E-F599-1B88115B49FA}"/>
              </a:ext>
            </a:extLst>
          </p:cNvPr>
          <p:cNvSpPr/>
          <p:nvPr/>
        </p:nvSpPr>
        <p:spPr>
          <a:xfrm>
            <a:off x="2731770" y="3057144"/>
            <a:ext cx="2569779" cy="591312"/>
          </a:xfrm>
          <a:prstGeom prst="rect">
            <a:avLst/>
          </a:prstGeom>
          <a:solidFill>
            <a:srgbClr val="F1F6FB"/>
          </a:solidFill>
          <a:ln w="4445">
            <a:solidFill>
              <a:srgbClr val="B9C7D6"/>
            </a:solidFill>
            <a:prstDash val="solid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2E71182-70E9-8653-3958-F28E12D5676B}"/>
              </a:ext>
            </a:extLst>
          </p:cNvPr>
          <p:cNvSpPr/>
          <p:nvPr/>
        </p:nvSpPr>
        <p:spPr>
          <a:xfrm>
            <a:off x="2768346" y="3089148"/>
            <a:ext cx="2496627" cy="527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a=0, b=2, c=1</a:t>
            </a:r>
            <a:endParaRPr lang="en-US" sz="98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AE639B1-007D-CC46-623C-3D6B321B7F90}"/>
              </a:ext>
            </a:extLst>
          </p:cNvPr>
          <p:cNvSpPr/>
          <p:nvPr/>
        </p:nvSpPr>
        <p:spPr>
          <a:xfrm>
            <a:off x="5301549" y="3057144"/>
            <a:ext cx="3019491" cy="591312"/>
          </a:xfrm>
          <a:prstGeom prst="rect">
            <a:avLst/>
          </a:prstGeom>
          <a:solidFill>
            <a:srgbClr val="F1F6FB"/>
          </a:solidFill>
          <a:ln w="4445">
            <a:solidFill>
              <a:srgbClr val="B9C7D6"/>
            </a:solidFill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FED4DE4-3AD4-3DA9-B1FF-4594177D1A69}"/>
              </a:ext>
            </a:extLst>
          </p:cNvPr>
          <p:cNvSpPr/>
          <p:nvPr/>
        </p:nvSpPr>
        <p:spPr>
          <a:xfrm>
            <a:off x="5338125" y="3089148"/>
            <a:ext cx="2946339" cy="527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respectă restricția de gradul II</a:t>
            </a:r>
            <a:endParaRPr lang="en-US" sz="98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EF2791D6-295B-2319-AEAE-AF9C4FD846DA}"/>
              </a:ext>
            </a:extLst>
          </p:cNvPr>
          <p:cNvSpPr/>
          <p:nvPr/>
        </p:nvSpPr>
        <p:spPr>
          <a:xfrm>
            <a:off x="868680" y="3648456"/>
            <a:ext cx="1863090" cy="591312"/>
          </a:xfrm>
          <a:prstGeom prst="rect">
            <a:avLst/>
          </a:prstGeom>
          <a:solidFill>
            <a:srgbClr val="FFFFFF"/>
          </a:solidFill>
          <a:ln w="4445">
            <a:solidFill>
              <a:srgbClr val="B9C7D6"/>
            </a:solidFill>
            <a:prstDash val="solid"/>
          </a:ln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7B58F3A7-E727-7100-B712-EA364A6BBBE4}"/>
              </a:ext>
            </a:extLst>
          </p:cNvPr>
          <p:cNvSpPr/>
          <p:nvPr/>
        </p:nvSpPr>
        <p:spPr>
          <a:xfrm>
            <a:off x="905256" y="3680460"/>
            <a:ext cx="1789938" cy="527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aproape de 0</a:t>
            </a:r>
            <a:endParaRPr lang="en-US" sz="98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05FE44BA-C63B-315A-57B0-35C87A9A6091}"/>
              </a:ext>
            </a:extLst>
          </p:cNvPr>
          <p:cNvSpPr/>
          <p:nvPr/>
        </p:nvSpPr>
        <p:spPr>
          <a:xfrm>
            <a:off x="2731770" y="3648456"/>
            <a:ext cx="2569779" cy="591312"/>
          </a:xfrm>
          <a:prstGeom prst="rect">
            <a:avLst/>
          </a:prstGeom>
          <a:solidFill>
            <a:srgbClr val="FFFFFF"/>
          </a:solidFill>
          <a:ln w="4445">
            <a:solidFill>
              <a:srgbClr val="B9C7D6"/>
            </a:solidFill>
            <a:prstDash val="solid"/>
          </a:ln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EEC7B869-AB20-1469-0BE8-99E6C44EC8D1}"/>
              </a:ext>
            </a:extLst>
          </p:cNvPr>
          <p:cNvSpPr/>
          <p:nvPr/>
        </p:nvSpPr>
        <p:spPr>
          <a:xfrm>
            <a:off x="2768346" y="3680460"/>
            <a:ext cx="2496627" cy="527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b=1.999 și b=2.001</a:t>
            </a:r>
            <a:endParaRPr lang="en-US" sz="98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1962FE6C-E7C3-C862-E43B-D805803D369F}"/>
              </a:ext>
            </a:extLst>
          </p:cNvPr>
          <p:cNvSpPr/>
          <p:nvPr/>
        </p:nvSpPr>
        <p:spPr>
          <a:xfrm>
            <a:off x="5301549" y="3648456"/>
            <a:ext cx="3019491" cy="591312"/>
          </a:xfrm>
          <a:prstGeom prst="rect">
            <a:avLst/>
          </a:prstGeom>
          <a:solidFill>
            <a:srgbClr val="FFFFFF"/>
          </a:solidFill>
          <a:ln w="4445">
            <a:solidFill>
              <a:srgbClr val="B9C7D6"/>
            </a:solidFill>
            <a:prstDash val="solid"/>
          </a:ln>
        </p:spPr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4EDA7EFA-1543-79BA-0EE6-8A81B6398F8E}"/>
              </a:ext>
            </a:extLst>
          </p:cNvPr>
          <p:cNvSpPr/>
          <p:nvPr/>
        </p:nvSpPr>
        <p:spPr>
          <a:xfrm>
            <a:off x="5338125" y="3680460"/>
            <a:ext cx="2946339" cy="527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frontiera dintre complex și real este stabilă</a:t>
            </a:r>
            <a:endParaRPr lang="en-US" sz="98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4B0A6937-3FD4-FEB4-7D68-EF813F5B7CE6}"/>
              </a:ext>
            </a:extLst>
          </p:cNvPr>
          <p:cNvSpPr/>
          <p:nvPr/>
        </p:nvSpPr>
        <p:spPr>
          <a:xfrm>
            <a:off x="868680" y="4239768"/>
            <a:ext cx="1863090" cy="591312"/>
          </a:xfrm>
          <a:prstGeom prst="rect">
            <a:avLst/>
          </a:prstGeom>
          <a:solidFill>
            <a:srgbClr val="F1F6FB"/>
          </a:solidFill>
          <a:ln w="4445">
            <a:solidFill>
              <a:srgbClr val="B9C7D6"/>
            </a:solidFill>
            <a:prstDash val="solid"/>
          </a:ln>
        </p:spPr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68F9D8BD-8E81-B5E3-57B7-D4076EE62596}"/>
              </a:ext>
            </a:extLst>
          </p:cNvPr>
          <p:cNvSpPr/>
          <p:nvPr/>
        </p:nvSpPr>
        <p:spPr>
          <a:xfrm>
            <a:off x="905256" y="4271772"/>
            <a:ext cx="1789938" cy="527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&lt; 0 / =0 / &gt;0</a:t>
            </a:r>
            <a:endParaRPr lang="en-US" sz="98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AF08C3B5-9AB9-1B2A-3034-F082AAD00837}"/>
              </a:ext>
            </a:extLst>
          </p:cNvPr>
          <p:cNvSpPr/>
          <p:nvPr/>
        </p:nvSpPr>
        <p:spPr>
          <a:xfrm>
            <a:off x="2731770" y="4239768"/>
            <a:ext cx="2569779" cy="591312"/>
          </a:xfrm>
          <a:prstGeom prst="rect">
            <a:avLst/>
          </a:prstGeom>
          <a:solidFill>
            <a:srgbClr val="F1F6FB"/>
          </a:solidFill>
          <a:ln w="4445">
            <a:solidFill>
              <a:srgbClr val="B9C7D6"/>
            </a:solidFill>
            <a:prstDash val="solid"/>
          </a:ln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6AA02E29-C111-AF0A-D014-21AEACEAD774}"/>
              </a:ext>
            </a:extLst>
          </p:cNvPr>
          <p:cNvSpPr/>
          <p:nvPr/>
        </p:nvSpPr>
        <p:spPr>
          <a:xfrm>
            <a:off x="2768346" y="4271772"/>
            <a:ext cx="2496627" cy="527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(1,1,1), (1,2,1), (1,5,6)</a:t>
            </a:r>
            <a:endParaRPr lang="en-US" sz="98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25171ACB-AB02-953B-17BB-10F9368744AD}"/>
              </a:ext>
            </a:extLst>
          </p:cNvPr>
          <p:cNvSpPr/>
          <p:nvPr/>
        </p:nvSpPr>
        <p:spPr>
          <a:xfrm>
            <a:off x="5301549" y="4239768"/>
            <a:ext cx="3019491" cy="591312"/>
          </a:xfrm>
          <a:prstGeom prst="rect">
            <a:avLst/>
          </a:prstGeom>
          <a:solidFill>
            <a:srgbClr val="F1F6FB"/>
          </a:solidFill>
          <a:ln w="4445">
            <a:solidFill>
              <a:srgbClr val="B9C7D6"/>
            </a:solidFill>
            <a:prstDash val="solid"/>
          </a:ln>
        </p:spPr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DEBA38A3-A7FD-6260-FCFD-3342198E976E}"/>
              </a:ext>
            </a:extLst>
          </p:cNvPr>
          <p:cNvSpPr/>
          <p:nvPr/>
        </p:nvSpPr>
        <p:spPr>
          <a:xfrm>
            <a:off x="5338125" y="4271772"/>
            <a:ext cx="2946339" cy="527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toate tipurile de soluții sunt acoperite</a:t>
            </a:r>
            <a:endParaRPr lang="en-US" sz="98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69FEDC49-70DD-663B-6855-4B84354D5501}"/>
              </a:ext>
            </a:extLst>
          </p:cNvPr>
          <p:cNvSpPr/>
          <p:nvPr/>
        </p:nvSpPr>
        <p:spPr>
          <a:xfrm>
            <a:off x="868680" y="4831080"/>
            <a:ext cx="1863090" cy="591312"/>
          </a:xfrm>
          <a:prstGeom prst="rect">
            <a:avLst/>
          </a:prstGeom>
          <a:solidFill>
            <a:srgbClr val="FFFFFF"/>
          </a:solidFill>
          <a:ln w="4445">
            <a:solidFill>
              <a:srgbClr val="B9C7D6"/>
            </a:solidFill>
            <a:prstDash val="solid"/>
          </a:ln>
        </p:spPr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2C5F865C-A2B5-6D1A-80C3-B7F833BE30BA}"/>
              </a:ext>
            </a:extLst>
          </p:cNvPr>
          <p:cNvSpPr/>
          <p:nvPr/>
        </p:nvSpPr>
        <p:spPr>
          <a:xfrm>
            <a:off x="905256" y="4863084"/>
            <a:ext cx="1789938" cy="527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mutații în formule</a:t>
            </a:r>
            <a:endParaRPr lang="en-US" sz="98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DF6A9E41-8F4E-81BF-44B4-47ABB5366ACB}"/>
              </a:ext>
            </a:extLst>
          </p:cNvPr>
          <p:cNvSpPr/>
          <p:nvPr/>
        </p:nvSpPr>
        <p:spPr>
          <a:xfrm>
            <a:off x="2731770" y="4831080"/>
            <a:ext cx="2569779" cy="591312"/>
          </a:xfrm>
          <a:prstGeom prst="rect">
            <a:avLst/>
          </a:prstGeom>
          <a:solidFill>
            <a:srgbClr val="FFFFFF"/>
          </a:solidFill>
          <a:ln w="4445">
            <a:solidFill>
              <a:srgbClr val="B9C7D6"/>
            </a:solidFill>
            <a:prstDash val="solid"/>
          </a:ln>
        </p:spPr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D14DE4D3-7ACA-6B7A-AB81-DE4CC4A24F1B}"/>
              </a:ext>
            </a:extLst>
          </p:cNvPr>
          <p:cNvSpPr/>
          <p:nvPr/>
        </p:nvSpPr>
        <p:spPr>
          <a:xfrm>
            <a:off x="2768346" y="4863084"/>
            <a:ext cx="2496627" cy="527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operatori aritmetici modificați</a:t>
            </a:r>
            <a:endParaRPr lang="en-US" sz="98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96390084-6E3E-8479-A038-8C96CB971727}"/>
              </a:ext>
            </a:extLst>
          </p:cNvPr>
          <p:cNvSpPr/>
          <p:nvPr/>
        </p:nvSpPr>
        <p:spPr>
          <a:xfrm>
            <a:off x="5301549" y="4831080"/>
            <a:ext cx="3019491" cy="591312"/>
          </a:xfrm>
          <a:prstGeom prst="rect">
            <a:avLst/>
          </a:prstGeom>
          <a:solidFill>
            <a:srgbClr val="FFFFFF"/>
          </a:solidFill>
          <a:ln w="4445">
            <a:solidFill>
              <a:srgbClr val="B9C7D6"/>
            </a:solidFill>
            <a:prstDash val="solid"/>
          </a:ln>
        </p:spPr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C68D34E5-7392-3902-5DAD-E1268CBC2B8C}"/>
              </a:ext>
            </a:extLst>
          </p:cNvPr>
          <p:cNvSpPr/>
          <p:nvPr/>
        </p:nvSpPr>
        <p:spPr>
          <a:xfrm>
            <a:off x="5338125" y="4863084"/>
            <a:ext cx="2946339" cy="527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testele detectează greșeli matematice</a:t>
            </a:r>
            <a:endParaRPr lang="en-US" sz="98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15E69C27-E973-B758-AD2D-A77A241BB4E5}"/>
              </a:ext>
            </a:extLst>
          </p:cNvPr>
          <p:cNvSpPr/>
          <p:nvPr/>
        </p:nvSpPr>
        <p:spPr>
          <a:xfrm>
            <a:off x="8732520" y="2057400"/>
            <a:ext cx="2331720" cy="3127248"/>
          </a:xfrm>
          <a:prstGeom prst="roundRect">
            <a:avLst>
              <a:gd name="adj" fmla="val 3137"/>
            </a:avLst>
          </a:prstGeom>
          <a:solidFill>
            <a:srgbClr val="071B2D"/>
          </a:solidFill>
          <a:ln w="9525">
            <a:solidFill>
              <a:srgbClr val="D7E1EA"/>
            </a:solidFill>
            <a:prstDash val="solid"/>
          </a:ln>
        </p:spPr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9FB6F672-C2B6-F6A0-A753-871C92A2B8FA}"/>
              </a:ext>
            </a:extLst>
          </p:cNvPr>
          <p:cNvSpPr/>
          <p:nvPr/>
        </p:nvSpPr>
        <p:spPr>
          <a:xfrm>
            <a:off x="9070848" y="2450592"/>
            <a:ext cx="169164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37D6C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</a:t>
            </a:r>
            <a:endParaRPr lang="en-US" sz="29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8CC18F9D-D4CA-3158-CF4F-D9E2FAE3B8DC}"/>
              </a:ext>
            </a:extLst>
          </p:cNvPr>
          <p:cNvSpPr/>
          <p:nvPr/>
        </p:nvSpPr>
        <p:spPr>
          <a:xfrm>
            <a:off x="9070848" y="2990088"/>
            <a:ext cx="169164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D9EA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 funcționale rulate</a:t>
            </a:r>
            <a:endParaRPr lang="en-US" sz="125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93D94D51-EA83-D5C4-3422-AE92D6E56642}"/>
              </a:ext>
            </a:extLst>
          </p:cNvPr>
          <p:cNvSpPr/>
          <p:nvPr/>
        </p:nvSpPr>
        <p:spPr>
          <a:xfrm>
            <a:off x="9070848" y="3794760"/>
            <a:ext cx="169164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FFC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290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085F6EE4-1504-7D4A-84E5-998A1869F217}"/>
              </a:ext>
            </a:extLst>
          </p:cNvPr>
          <p:cNvSpPr/>
          <p:nvPr/>
        </p:nvSpPr>
        <p:spPr>
          <a:xfrm>
            <a:off x="9070848" y="4334256"/>
            <a:ext cx="169164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D9EA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drumuri independente</a:t>
            </a:r>
            <a:endParaRPr lang="en-US" sz="125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B1C054DD-ED53-4FBC-FEBB-157C12F3FE10}"/>
              </a:ext>
            </a:extLst>
          </p:cNvPr>
          <p:cNvSpPr/>
          <p:nvPr/>
        </p:nvSpPr>
        <p:spPr>
          <a:xfrm>
            <a:off x="9025128" y="4846320"/>
            <a:ext cx="17830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77.5%" lnSpcReduction="20%"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Rezultat: fiecare comportament observabil are un test dedicat.</a:t>
            </a:r>
            <a:endParaRPr lang="en-US" sz="122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CF648BB0-6998-1DE4-A90C-FAAE11D7DADE}"/>
              </a:ext>
            </a:extLst>
          </p:cNvPr>
          <p:cNvSpPr/>
          <p:nvPr/>
        </p:nvSpPr>
        <p:spPr>
          <a:xfrm>
            <a:off x="713232" y="5715000"/>
            <a:ext cx="10469880" cy="411480"/>
          </a:xfrm>
          <a:prstGeom prst="roundRect">
            <a:avLst>
              <a:gd name="adj" fmla="val 17778"/>
            </a:avLst>
          </a:prstGeom>
          <a:solidFill>
            <a:srgbClr val="EAF2FF"/>
          </a:solidFill>
          <a:ln w="6985">
            <a:solidFill>
              <a:srgbClr val="BCD3FF"/>
            </a:solidFill>
            <a:prstDash val="solid"/>
          </a:ln>
        </p:spPr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6CFB4225-FEBB-4EB8-69FD-36D70B509B50}"/>
              </a:ext>
            </a:extLst>
          </p:cNvPr>
          <p:cNvSpPr/>
          <p:nvPr/>
        </p:nvSpPr>
        <p:spPr>
          <a:xfrm>
            <a:off x="914400" y="5797296"/>
            <a:ext cx="10058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%"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7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Mesaj-cheie: nu prezentăm doar o listă de teste, ci o trasabilitate între risc și dovadă.</a:t>
            </a:r>
            <a:endParaRPr lang="en-US" sz="132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ADD1DDB5-8140-8FB3-356E-8F44E2744300}"/>
              </a:ext>
            </a:extLst>
          </p:cNvPr>
          <p:cNvSpPr/>
          <p:nvPr/>
        </p:nvSpPr>
        <p:spPr>
          <a:xfrm>
            <a:off x="11164824" y="62727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355767268"/>
      </p:ext>
    </p:extLst>
  </p:cSld>
  <p:clrMapOvr>
    <a:masterClrMapping/>
  </p:clrMapOvr>
</p:sld>
</file>

<file path=ppt/slides/slide8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903D6AB-28AB-D831-075A-9222D34E8876}"/>
              </a:ext>
            </a:extLst>
          </p:cNvPr>
          <p:cNvSpPr/>
          <p:nvPr/>
        </p:nvSpPr>
        <p:spPr>
          <a:xfrm>
            <a:off x="594360" y="6364224"/>
            <a:ext cx="10972800" cy="0"/>
          </a:xfrm>
          <a:prstGeom prst="line">
            <a:avLst/>
          </a:prstGeom>
          <a:noFill/>
          <a:ln w="15875">
            <a:solidFill>
              <a:srgbClr val="246BFE">
                <a:alpha val="75%"/>
              </a:srgbClr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A1BAAC1-E2F6-4531-CC6D-D19033B8BF35}"/>
              </a:ext>
            </a:extLst>
          </p:cNvPr>
          <p:cNvSpPr/>
          <p:nvPr/>
        </p:nvSpPr>
        <p:spPr>
          <a:xfrm>
            <a:off x="667512" y="310896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246B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CONDIȚII → REZULTATE</a:t>
            </a:r>
            <a:endParaRPr lang="en-US" sz="93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9EC0029-E67E-A231-AF69-7D112740DF14}"/>
              </a:ext>
            </a:extLst>
          </p:cNvPr>
          <p:cNvSpPr/>
          <p:nvPr/>
        </p:nvSpPr>
        <p:spPr>
          <a:xfrm>
            <a:off x="640080" y="786384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5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Graful cauză–efect</a:t>
            </a:r>
            <a:endParaRPr lang="en-US" sz="30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55575F6-DB39-B435-7BB1-7AD8C72E7A76}"/>
              </a:ext>
            </a:extLst>
          </p:cNvPr>
          <p:cNvSpPr/>
          <p:nvPr/>
        </p:nvSpPr>
        <p:spPr>
          <a:xfrm>
            <a:off x="749808" y="1417320"/>
            <a:ext cx="10424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Analiza cauză–efect verifică dacă toate rezultatele metodei sunt explicate de condiții clare.</a:t>
            </a:r>
            <a:endParaRPr lang="en-US" sz="18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B32C0E7-C8E3-C7DF-0542-C1203A5734B3}"/>
              </a:ext>
            </a:extLst>
          </p:cNvPr>
          <p:cNvSpPr/>
          <p:nvPr/>
        </p:nvSpPr>
        <p:spPr>
          <a:xfrm>
            <a:off x="2240280" y="3419856"/>
            <a:ext cx="1417320" cy="0"/>
          </a:xfrm>
          <a:prstGeom prst="line">
            <a:avLst/>
          </a:prstGeom>
          <a:noFill/>
          <a:ln w="17780">
            <a:solidFill>
              <a:srgbClr val="246BFE"/>
            </a:solidFill>
            <a:prstDash val="solid"/>
            <a:headEnd type="none"/>
            <a:tailEnd type="triangle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51866E0-1EB3-D4BB-5D7B-0567EF1D73DE}"/>
              </a:ext>
            </a:extLst>
          </p:cNvPr>
          <p:cNvSpPr/>
          <p:nvPr/>
        </p:nvSpPr>
        <p:spPr>
          <a:xfrm>
            <a:off x="2240280" y="3419856"/>
            <a:ext cx="1417320" cy="0"/>
          </a:xfrm>
          <a:prstGeom prst="line">
            <a:avLst/>
          </a:prstGeom>
          <a:noFill/>
          <a:ln w="17780">
            <a:solidFill>
              <a:srgbClr val="246BFE"/>
            </a:solidFill>
            <a:prstDash val="solid"/>
            <a:headEnd type="none"/>
            <a:tailEnd type="triangle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51C6F8F-3141-8C31-87E8-6D39B07D9B35}"/>
              </a:ext>
            </a:extLst>
          </p:cNvPr>
          <p:cNvSpPr/>
          <p:nvPr/>
        </p:nvSpPr>
        <p:spPr>
          <a:xfrm>
            <a:off x="2240280" y="3419856"/>
            <a:ext cx="1417320" cy="365760"/>
          </a:xfrm>
          <a:prstGeom prst="line">
            <a:avLst/>
          </a:prstGeom>
          <a:noFill/>
          <a:ln w="17780">
            <a:solidFill>
              <a:srgbClr val="246BFE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1E653BD-C120-1B42-CC9B-ADED8A0843BF}"/>
              </a:ext>
            </a:extLst>
          </p:cNvPr>
          <p:cNvSpPr/>
          <p:nvPr/>
        </p:nvSpPr>
        <p:spPr>
          <a:xfrm>
            <a:off x="6199632" y="2322576"/>
            <a:ext cx="1252728" cy="0"/>
          </a:xfrm>
          <a:prstGeom prst="line">
            <a:avLst/>
          </a:prstGeom>
          <a:noFill/>
          <a:ln w="17780">
            <a:solidFill>
              <a:srgbClr val="0E7490"/>
            </a:solidFill>
            <a:prstDash val="solid"/>
            <a:headEnd type="none"/>
            <a:tailEnd type="triangle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C3C2CE4-42CD-2957-20BD-A229CD402C80}"/>
              </a:ext>
            </a:extLst>
          </p:cNvPr>
          <p:cNvSpPr/>
          <p:nvPr/>
        </p:nvSpPr>
        <p:spPr>
          <a:xfrm>
            <a:off x="6199632" y="3054096"/>
            <a:ext cx="1252728" cy="0"/>
          </a:xfrm>
          <a:prstGeom prst="line">
            <a:avLst/>
          </a:prstGeom>
          <a:noFill/>
          <a:ln w="17780">
            <a:solidFill>
              <a:srgbClr val="0E7490"/>
            </a:solidFill>
            <a:prstDash val="solid"/>
            <a:headEnd type="none"/>
            <a:tailEnd type="triangle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E4E1096-3B53-1B6E-FC16-36B7FE7A83D8}"/>
              </a:ext>
            </a:extLst>
          </p:cNvPr>
          <p:cNvSpPr/>
          <p:nvPr/>
        </p:nvSpPr>
        <p:spPr>
          <a:xfrm>
            <a:off x="6199632" y="3785616"/>
            <a:ext cx="1252728" cy="0"/>
          </a:xfrm>
          <a:prstGeom prst="line">
            <a:avLst/>
          </a:prstGeom>
          <a:noFill/>
          <a:ln w="17780">
            <a:solidFill>
              <a:srgbClr val="0E7490"/>
            </a:solidFill>
            <a:prstDash val="solid"/>
            <a:headEnd type="none"/>
            <a:tailEnd type="triangle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34B7966-DD2F-88D2-D204-B3AA3DAAB9A9}"/>
              </a:ext>
            </a:extLst>
          </p:cNvPr>
          <p:cNvSpPr/>
          <p:nvPr/>
        </p:nvSpPr>
        <p:spPr>
          <a:xfrm>
            <a:off x="6199632" y="4517136"/>
            <a:ext cx="1252728" cy="0"/>
          </a:xfrm>
          <a:prstGeom prst="line">
            <a:avLst/>
          </a:prstGeom>
          <a:noFill/>
          <a:ln w="17780">
            <a:solidFill>
              <a:srgbClr val="0E7490"/>
            </a:solidFill>
            <a:prstDash val="solid"/>
            <a:headEnd type="none"/>
            <a:tailEnd type="triangle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F56DB0C-F903-75E4-A0B3-091073991355}"/>
              </a:ext>
            </a:extLst>
          </p:cNvPr>
          <p:cNvSpPr/>
          <p:nvPr/>
        </p:nvSpPr>
        <p:spPr>
          <a:xfrm>
            <a:off x="6199632" y="5248656"/>
            <a:ext cx="1252728" cy="0"/>
          </a:xfrm>
          <a:prstGeom prst="line">
            <a:avLst/>
          </a:prstGeom>
          <a:noFill/>
          <a:ln w="17780">
            <a:solidFill>
              <a:srgbClr val="0E7490"/>
            </a:solidFill>
            <a:prstDash val="solid"/>
            <a:headEnd type="none"/>
            <a:tailEnd type="triangle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E620C13-1775-B579-151E-4B05BAB4B5FB}"/>
              </a:ext>
            </a:extLst>
          </p:cNvPr>
          <p:cNvSpPr/>
          <p:nvPr/>
        </p:nvSpPr>
        <p:spPr>
          <a:xfrm>
            <a:off x="868680" y="3063240"/>
            <a:ext cx="1325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4605">
            <a:solidFill>
              <a:srgbClr val="246BFE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4290B48-4832-DAA7-AB0C-84F7B16BBE18}"/>
              </a:ext>
            </a:extLst>
          </p:cNvPr>
          <p:cNvSpPr/>
          <p:nvPr/>
        </p:nvSpPr>
        <p:spPr>
          <a:xfrm>
            <a:off x="941832" y="3108960"/>
            <a:ext cx="1179576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a, b, c</a:t>
            </a:r>
            <a:endParaRPr lang="en-US" sz="14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36266BB-7807-3115-191A-809C235B2BE9}"/>
              </a:ext>
            </a:extLst>
          </p:cNvPr>
          <p:cNvSpPr/>
          <p:nvPr/>
        </p:nvSpPr>
        <p:spPr>
          <a:xfrm>
            <a:off x="3657600" y="1993392"/>
            <a:ext cx="2514600" cy="603504"/>
          </a:xfrm>
          <a:prstGeom prst="roundRect">
            <a:avLst>
              <a:gd name="adj" fmla="val 12121"/>
            </a:avLst>
          </a:prstGeom>
          <a:solidFill>
            <a:srgbClr val="FFF2F2"/>
          </a:solidFill>
          <a:ln w="14605">
            <a:solidFill>
              <a:srgbClr val="E45756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7A5E95A-EE53-34FE-30DB-F40FFE15DCD0}"/>
              </a:ext>
            </a:extLst>
          </p:cNvPr>
          <p:cNvSpPr/>
          <p:nvPr/>
        </p:nvSpPr>
        <p:spPr>
          <a:xfrm>
            <a:off x="3730752" y="2039112"/>
            <a:ext cx="2368296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C1: coeficient nenumeric</a:t>
            </a:r>
            <a:endParaRPr lang="en-US" sz="122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32C310B7-A195-0CF6-82B1-DF9A081B45F0}"/>
              </a:ext>
            </a:extLst>
          </p:cNvPr>
          <p:cNvSpPr/>
          <p:nvPr/>
        </p:nvSpPr>
        <p:spPr>
          <a:xfrm>
            <a:off x="3657600" y="2724912"/>
            <a:ext cx="2514600" cy="603504"/>
          </a:xfrm>
          <a:prstGeom prst="roundRect">
            <a:avLst>
              <a:gd name="adj" fmla="val 12121"/>
            </a:avLst>
          </a:prstGeom>
          <a:solidFill>
            <a:srgbClr val="FFF7E3"/>
          </a:solidFill>
          <a:ln w="14605">
            <a:solidFill>
              <a:srgbClr val="FFC857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EDBA9A4-F50B-AD6D-1242-197712EE7CBA}"/>
              </a:ext>
            </a:extLst>
          </p:cNvPr>
          <p:cNvSpPr/>
          <p:nvPr/>
        </p:nvSpPr>
        <p:spPr>
          <a:xfrm>
            <a:off x="3730752" y="2770632"/>
            <a:ext cx="2368296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C2: a = 0</a:t>
            </a:r>
            <a:endParaRPr lang="en-US" sz="122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A6CFEF24-6A66-D11C-DE7A-172B9A47E019}"/>
              </a:ext>
            </a:extLst>
          </p:cNvPr>
          <p:cNvSpPr/>
          <p:nvPr/>
        </p:nvSpPr>
        <p:spPr>
          <a:xfrm>
            <a:off x="3657600" y="3456432"/>
            <a:ext cx="2514600" cy="603504"/>
          </a:xfrm>
          <a:prstGeom prst="roundRect">
            <a:avLst>
              <a:gd name="adj" fmla="val 12121"/>
            </a:avLst>
          </a:prstGeom>
          <a:solidFill>
            <a:srgbClr val="FFF5D9"/>
          </a:solidFill>
          <a:ln w="14605">
            <a:solidFill>
              <a:srgbClr val="FFC857"/>
            </a:solidFill>
            <a:prstDash val="solid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D7103F2-2A23-976C-49E4-CA9DEA2D15C0}"/>
              </a:ext>
            </a:extLst>
          </p:cNvPr>
          <p:cNvSpPr/>
          <p:nvPr/>
        </p:nvSpPr>
        <p:spPr>
          <a:xfrm>
            <a:off x="3730752" y="3502152"/>
            <a:ext cx="2368296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C3: Δ &lt; 0</a:t>
            </a:r>
            <a:endParaRPr lang="en-US" sz="122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DB51E349-2B4F-D079-0955-BB702990B29E}"/>
              </a:ext>
            </a:extLst>
          </p:cNvPr>
          <p:cNvSpPr/>
          <p:nvPr/>
        </p:nvSpPr>
        <p:spPr>
          <a:xfrm>
            <a:off x="3657600" y="4187952"/>
            <a:ext cx="2514600" cy="603504"/>
          </a:xfrm>
          <a:prstGeom prst="roundRect">
            <a:avLst>
              <a:gd name="adj" fmla="val 12121"/>
            </a:avLst>
          </a:prstGeom>
          <a:solidFill>
            <a:srgbClr val="E9FFF8"/>
          </a:solidFill>
          <a:ln w="14605">
            <a:solidFill>
              <a:srgbClr val="37D6C7"/>
            </a:solidFill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409D7D8-6406-AF77-017F-C2D0A6F9AAE6}"/>
              </a:ext>
            </a:extLst>
          </p:cNvPr>
          <p:cNvSpPr/>
          <p:nvPr/>
        </p:nvSpPr>
        <p:spPr>
          <a:xfrm>
            <a:off x="3730752" y="4233672"/>
            <a:ext cx="2368296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C4: Δ = 0</a:t>
            </a:r>
            <a:endParaRPr lang="en-US" sz="122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4880CD2C-B130-2A61-24BE-11880FA7C304}"/>
              </a:ext>
            </a:extLst>
          </p:cNvPr>
          <p:cNvSpPr/>
          <p:nvPr/>
        </p:nvSpPr>
        <p:spPr>
          <a:xfrm>
            <a:off x="3657600" y="4919472"/>
            <a:ext cx="2514600" cy="603504"/>
          </a:xfrm>
          <a:prstGeom prst="roundRect">
            <a:avLst>
              <a:gd name="adj" fmla="val 12121"/>
            </a:avLst>
          </a:prstGeom>
          <a:solidFill>
            <a:srgbClr val="E8F1FF"/>
          </a:solidFill>
          <a:ln w="14605">
            <a:solidFill>
              <a:srgbClr val="246BFE"/>
            </a:solidFill>
            <a:prstDash val="solid"/>
          </a:ln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AAEA2F4D-1828-BDA7-330E-E6D65E1D6074}"/>
              </a:ext>
            </a:extLst>
          </p:cNvPr>
          <p:cNvSpPr/>
          <p:nvPr/>
        </p:nvSpPr>
        <p:spPr>
          <a:xfrm>
            <a:off x="3730752" y="4965192"/>
            <a:ext cx="2368296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C5: Δ &gt; 0</a:t>
            </a:r>
            <a:endParaRPr lang="en-US" sz="122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53222431-EDBE-3EE4-3782-D944942D64A8}"/>
              </a:ext>
            </a:extLst>
          </p:cNvPr>
          <p:cNvSpPr/>
          <p:nvPr/>
        </p:nvSpPr>
        <p:spPr>
          <a:xfrm>
            <a:off x="7452360" y="1993392"/>
            <a:ext cx="3154680" cy="603504"/>
          </a:xfrm>
          <a:prstGeom prst="roundRect">
            <a:avLst>
              <a:gd name="adj" fmla="val 12121"/>
            </a:avLst>
          </a:prstGeom>
          <a:solidFill>
            <a:srgbClr val="FFF2F2"/>
          </a:solidFill>
          <a:ln w="14605">
            <a:solidFill>
              <a:srgbClr val="E45756"/>
            </a:solidFill>
            <a:prstDash val="solid"/>
          </a:ln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5A710EE8-19B1-7834-BC9C-C2997033A3FB}"/>
              </a:ext>
            </a:extLst>
          </p:cNvPr>
          <p:cNvSpPr/>
          <p:nvPr/>
        </p:nvSpPr>
        <p:spPr>
          <a:xfrm>
            <a:off x="7525512" y="2039112"/>
            <a:ext cx="3008376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E1: ValueError tip invalid</a:t>
            </a:r>
            <a:endParaRPr lang="en-US" sz="122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B8B21AC5-FD75-0211-C1FA-6BB7A7A94510}"/>
              </a:ext>
            </a:extLst>
          </p:cNvPr>
          <p:cNvSpPr/>
          <p:nvPr/>
        </p:nvSpPr>
        <p:spPr>
          <a:xfrm>
            <a:off x="7452360" y="2724912"/>
            <a:ext cx="3154680" cy="603504"/>
          </a:xfrm>
          <a:prstGeom prst="roundRect">
            <a:avLst>
              <a:gd name="adj" fmla="val 12121"/>
            </a:avLst>
          </a:prstGeom>
          <a:solidFill>
            <a:srgbClr val="FFF7E3"/>
          </a:solidFill>
          <a:ln w="14605">
            <a:solidFill>
              <a:srgbClr val="FFC857"/>
            </a:solidFill>
            <a:prstDash val="solid"/>
          </a:ln>
        </p:spPr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8AC8667E-8929-752B-3149-C6C0BAD46E9A}"/>
              </a:ext>
            </a:extLst>
          </p:cNvPr>
          <p:cNvSpPr/>
          <p:nvPr/>
        </p:nvSpPr>
        <p:spPr>
          <a:xfrm>
            <a:off x="7525512" y="2770632"/>
            <a:ext cx="3008376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E2: ValueError pentru a = 0</a:t>
            </a:r>
            <a:endParaRPr lang="en-US" sz="122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D91F3692-3118-D759-3D40-4351F11EA744}"/>
              </a:ext>
            </a:extLst>
          </p:cNvPr>
          <p:cNvSpPr/>
          <p:nvPr/>
        </p:nvSpPr>
        <p:spPr>
          <a:xfrm>
            <a:off x="7452360" y="3456432"/>
            <a:ext cx="3154680" cy="603504"/>
          </a:xfrm>
          <a:prstGeom prst="roundRect">
            <a:avLst>
              <a:gd name="adj" fmla="val 12121"/>
            </a:avLst>
          </a:prstGeom>
          <a:solidFill>
            <a:srgbClr val="FFF5D9"/>
          </a:solidFill>
          <a:ln w="14605">
            <a:solidFill>
              <a:srgbClr val="FFC857"/>
            </a:solidFill>
            <a:prstDash val="solid"/>
          </a:ln>
        </p:spPr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F184A7D3-717D-FDBE-6B4C-3DE287373843}"/>
              </a:ext>
            </a:extLst>
          </p:cNvPr>
          <p:cNvSpPr/>
          <p:nvPr/>
        </p:nvSpPr>
        <p:spPr>
          <a:xfrm>
            <a:off x="7525512" y="3502152"/>
            <a:ext cx="3008376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E3: rădăcini complexe</a:t>
            </a:r>
            <a:endParaRPr lang="en-US" sz="122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A72810F2-05BC-B7BE-935D-55C067D63FF1}"/>
              </a:ext>
            </a:extLst>
          </p:cNvPr>
          <p:cNvSpPr/>
          <p:nvPr/>
        </p:nvSpPr>
        <p:spPr>
          <a:xfrm>
            <a:off x="7452360" y="4187952"/>
            <a:ext cx="3154680" cy="603504"/>
          </a:xfrm>
          <a:prstGeom prst="roundRect">
            <a:avLst>
              <a:gd name="adj" fmla="val 12121"/>
            </a:avLst>
          </a:prstGeom>
          <a:solidFill>
            <a:srgbClr val="E9FFF8"/>
          </a:solidFill>
          <a:ln w="14605">
            <a:solidFill>
              <a:srgbClr val="37D6C7"/>
            </a:solidFill>
            <a:prstDash val="solid"/>
          </a:ln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9DF8A79F-3811-8507-3284-EEE9B0AB5574}"/>
              </a:ext>
            </a:extLst>
          </p:cNvPr>
          <p:cNvSpPr/>
          <p:nvPr/>
        </p:nvSpPr>
        <p:spPr>
          <a:xfrm>
            <a:off x="7525512" y="4233672"/>
            <a:ext cx="3008376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E4: rădăcină dublă</a:t>
            </a:r>
            <a:endParaRPr lang="en-US" sz="122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1D0DD4DE-800E-11C6-B50B-96C2B1E154BC}"/>
              </a:ext>
            </a:extLst>
          </p:cNvPr>
          <p:cNvSpPr/>
          <p:nvPr/>
        </p:nvSpPr>
        <p:spPr>
          <a:xfrm>
            <a:off x="7452360" y="4919472"/>
            <a:ext cx="3154680" cy="603504"/>
          </a:xfrm>
          <a:prstGeom prst="roundRect">
            <a:avLst>
              <a:gd name="adj" fmla="val 12121"/>
            </a:avLst>
          </a:prstGeom>
          <a:solidFill>
            <a:srgbClr val="E8F1FF"/>
          </a:solidFill>
          <a:ln w="14605">
            <a:solidFill>
              <a:srgbClr val="246BFE"/>
            </a:solidFill>
            <a:prstDash val="solid"/>
          </a:ln>
        </p:spPr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BBDAD15D-865F-B3C3-1480-8FD5FBB9DFDA}"/>
              </a:ext>
            </a:extLst>
          </p:cNvPr>
          <p:cNvSpPr/>
          <p:nvPr/>
        </p:nvSpPr>
        <p:spPr>
          <a:xfrm>
            <a:off x="7525512" y="4965192"/>
            <a:ext cx="3008376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E5: două rădăcini reale</a:t>
            </a:r>
            <a:endParaRPr lang="en-US" sz="122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36C1C214-4DBA-1881-4ADF-9D43514E20F2}"/>
              </a:ext>
            </a:extLst>
          </p:cNvPr>
          <p:cNvSpPr/>
          <p:nvPr/>
        </p:nvSpPr>
        <p:spPr>
          <a:xfrm>
            <a:off x="713232" y="5715000"/>
            <a:ext cx="10469880" cy="411480"/>
          </a:xfrm>
          <a:prstGeom prst="roundRect">
            <a:avLst>
              <a:gd name="adj" fmla="val 17778"/>
            </a:avLst>
          </a:prstGeom>
          <a:solidFill>
            <a:srgbClr val="EAF2FF"/>
          </a:solidFill>
          <a:ln w="6985">
            <a:solidFill>
              <a:srgbClr val="BCD3FF"/>
            </a:solidFill>
            <a:prstDash val="solid"/>
          </a:ln>
        </p:spPr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7F57AB9A-0136-BA03-9086-B282B40F3AA8}"/>
              </a:ext>
            </a:extLst>
          </p:cNvPr>
          <p:cNvSpPr/>
          <p:nvPr/>
        </p:nvSpPr>
        <p:spPr>
          <a:xfrm>
            <a:off x="914400" y="5797296"/>
            <a:ext cx="10058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%"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7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Mesaj-cheie: dacă o cauză nu are test sau un efect nu este verificat, suita este incompletă.</a:t>
            </a:r>
            <a:endParaRPr lang="en-US" sz="132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CABF2C3C-7072-D68C-E9FF-1F609DBA490E}"/>
              </a:ext>
            </a:extLst>
          </p:cNvPr>
          <p:cNvSpPr/>
          <p:nvPr/>
        </p:nvSpPr>
        <p:spPr>
          <a:xfrm>
            <a:off x="11164824" y="62727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373690016"/>
      </p:ext>
    </p:extLst>
  </p:cSld>
  <p:clrMapOvr>
    <a:masterClrMapping/>
  </p:clrMapOvr>
</p:sld>
</file>

<file path=ppt/slides/slide9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F04659A-B453-54BB-2373-C06054F57400}"/>
              </a:ext>
            </a:extLst>
          </p:cNvPr>
          <p:cNvSpPr/>
          <p:nvPr/>
        </p:nvSpPr>
        <p:spPr>
          <a:xfrm>
            <a:off x="594360" y="6364224"/>
            <a:ext cx="10972800" cy="0"/>
          </a:xfrm>
          <a:prstGeom prst="line">
            <a:avLst/>
          </a:prstGeom>
          <a:noFill/>
          <a:ln w="15875">
            <a:solidFill>
              <a:srgbClr val="246BFE">
                <a:alpha val="75%"/>
              </a:srgbClr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08D0F4B-B01F-FFE9-5C35-01742780D474}"/>
              </a:ext>
            </a:extLst>
          </p:cNvPr>
          <p:cNvSpPr/>
          <p:nvPr/>
        </p:nvSpPr>
        <p:spPr>
          <a:xfrm>
            <a:off x="667512" y="310896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246B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WHITE BOX TESTING</a:t>
            </a:r>
            <a:endParaRPr lang="en-US" sz="93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9597253-A36C-E5E6-FF6E-96F7A1885337}"/>
              </a:ext>
            </a:extLst>
          </p:cNvPr>
          <p:cNvSpPr/>
          <p:nvPr/>
        </p:nvSpPr>
        <p:spPr>
          <a:xfrm>
            <a:off x="640080" y="786384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5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Testare structurală: CFG și McCabe</a:t>
            </a:r>
            <a:endParaRPr lang="en-US" sz="30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F51ECD6-5AF0-BCA1-A5AB-A84B90D46459}"/>
              </a:ext>
            </a:extLst>
          </p:cNvPr>
          <p:cNvSpPr/>
          <p:nvPr/>
        </p:nvSpPr>
        <p:spPr>
          <a:xfrm>
            <a:off x="749808" y="1417320"/>
            <a:ext cx="107442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După testarea funcțională, analizăm structura internă: decizii, ramuri și drumuri independente.</a:t>
            </a:r>
            <a:endParaRPr lang="en-US" sz="18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DFB9B3A-23FA-3F7B-3F80-992311F95AA9}"/>
              </a:ext>
            </a:extLst>
          </p:cNvPr>
          <p:cNvSpPr/>
          <p:nvPr/>
        </p:nvSpPr>
        <p:spPr>
          <a:xfrm>
            <a:off x="2423160" y="2212848"/>
            <a:ext cx="0" cy="301752"/>
          </a:xfrm>
          <a:prstGeom prst="line">
            <a:avLst/>
          </a:prstGeom>
          <a:noFill/>
          <a:ln w="17780">
            <a:solidFill>
              <a:srgbClr val="246BFE"/>
            </a:solidFill>
            <a:prstDash val="solid"/>
            <a:headEnd type="none"/>
            <a:tailEnd type="triangle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A10C10D-E7E8-C40F-CCE8-C98D74F90834}"/>
              </a:ext>
            </a:extLst>
          </p:cNvPr>
          <p:cNvSpPr/>
          <p:nvPr/>
        </p:nvSpPr>
        <p:spPr>
          <a:xfrm>
            <a:off x="2990088" y="2852928"/>
            <a:ext cx="1170432" cy="0"/>
          </a:xfrm>
          <a:prstGeom prst="line">
            <a:avLst/>
          </a:prstGeom>
          <a:noFill/>
          <a:ln w="17780">
            <a:solidFill>
              <a:srgbClr val="E45756"/>
            </a:solidFill>
            <a:prstDash val="solid"/>
            <a:headEnd type="none"/>
            <a:tailEnd type="triangle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786C01A-ACE0-41FA-1337-3FD65E47EDC4}"/>
              </a:ext>
            </a:extLst>
          </p:cNvPr>
          <p:cNvSpPr/>
          <p:nvPr/>
        </p:nvSpPr>
        <p:spPr>
          <a:xfrm>
            <a:off x="2423160" y="3191256"/>
            <a:ext cx="0" cy="338328"/>
          </a:xfrm>
          <a:prstGeom prst="line">
            <a:avLst/>
          </a:prstGeom>
          <a:noFill/>
          <a:ln w="17780">
            <a:solidFill>
              <a:srgbClr val="246BFE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F3C0F66-EE0E-507C-6202-4662ADCE125D}"/>
              </a:ext>
            </a:extLst>
          </p:cNvPr>
          <p:cNvSpPr/>
          <p:nvPr/>
        </p:nvSpPr>
        <p:spPr>
          <a:xfrm>
            <a:off x="2990088" y="3840480"/>
            <a:ext cx="1170432" cy="0"/>
          </a:xfrm>
          <a:prstGeom prst="line">
            <a:avLst/>
          </a:prstGeom>
          <a:noFill/>
          <a:ln w="17780">
            <a:solidFill>
              <a:srgbClr val="E45756"/>
            </a:solidFill>
            <a:prstDash val="solid"/>
            <a:headEnd type="none"/>
            <a:tailEnd type="triangle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2728CA2-114A-4EAA-DA98-BF08FD18CEC3}"/>
              </a:ext>
            </a:extLst>
          </p:cNvPr>
          <p:cNvSpPr/>
          <p:nvPr/>
        </p:nvSpPr>
        <p:spPr>
          <a:xfrm>
            <a:off x="2423160" y="4178808"/>
            <a:ext cx="0" cy="320040"/>
          </a:xfrm>
          <a:prstGeom prst="line">
            <a:avLst/>
          </a:prstGeom>
          <a:noFill/>
          <a:ln w="17780">
            <a:solidFill>
              <a:srgbClr val="246BFE"/>
            </a:solidFill>
            <a:prstDash val="solid"/>
            <a:headEnd type="none"/>
            <a:tailEnd type="triangle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553D4AA-BA8A-C9EE-060D-FC375307A652}"/>
              </a:ext>
            </a:extLst>
          </p:cNvPr>
          <p:cNvSpPr/>
          <p:nvPr/>
        </p:nvSpPr>
        <p:spPr>
          <a:xfrm>
            <a:off x="3063240" y="4754880"/>
            <a:ext cx="1097280" cy="0"/>
          </a:xfrm>
          <a:prstGeom prst="line">
            <a:avLst/>
          </a:prstGeom>
          <a:noFill/>
          <a:ln w="17780">
            <a:solidFill>
              <a:srgbClr val="0E7490"/>
            </a:solidFill>
            <a:prstDash val="solid"/>
            <a:headEnd type="none"/>
            <a:tailEnd type="triangle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8C2C1E8-2662-6BE3-118C-D13540A60401}"/>
              </a:ext>
            </a:extLst>
          </p:cNvPr>
          <p:cNvSpPr/>
          <p:nvPr/>
        </p:nvSpPr>
        <p:spPr>
          <a:xfrm>
            <a:off x="1828800" y="182880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4605">
            <a:solidFill>
              <a:srgbClr val="246BFE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9B0CA22-3518-A392-BE5D-4E4FBE09F530}"/>
              </a:ext>
            </a:extLst>
          </p:cNvPr>
          <p:cNvSpPr/>
          <p:nvPr/>
        </p:nvSpPr>
        <p:spPr>
          <a:xfrm>
            <a:off x="1901952" y="1874520"/>
            <a:ext cx="104241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</a:t>
            </a:r>
            <a:endParaRPr lang="en-US" sz="11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9251D79-DF56-6FE4-3018-DB36A1F0BD2A}"/>
              </a:ext>
            </a:extLst>
          </p:cNvPr>
          <p:cNvSpPr/>
          <p:nvPr/>
        </p:nvSpPr>
        <p:spPr>
          <a:xfrm>
            <a:off x="1810512" y="2514600"/>
            <a:ext cx="1225296" cy="676656"/>
          </a:xfrm>
          <a:prstGeom prst="diamond">
            <a:avLst/>
          </a:prstGeom>
          <a:solidFill>
            <a:srgbClr val="FFFFFF"/>
          </a:solidFill>
          <a:ln w="14605">
            <a:solidFill>
              <a:srgbClr val="246BFE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80EB591-2754-4364-26C3-B508E8540E68}"/>
              </a:ext>
            </a:extLst>
          </p:cNvPr>
          <p:cNvSpPr/>
          <p:nvPr/>
        </p:nvSpPr>
        <p:spPr>
          <a:xfrm>
            <a:off x="1938528" y="2624328"/>
            <a:ext cx="969264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tipuri valide?</a:t>
            </a:r>
            <a:endParaRPr lang="en-US" sz="102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0709274-EBED-9C2B-8B41-51141566DA5E}"/>
              </a:ext>
            </a:extLst>
          </p:cNvPr>
          <p:cNvSpPr/>
          <p:nvPr/>
        </p:nvSpPr>
        <p:spPr>
          <a:xfrm>
            <a:off x="4160520" y="2578608"/>
            <a:ext cx="1316736" cy="548640"/>
          </a:xfrm>
          <a:prstGeom prst="roundRect">
            <a:avLst>
              <a:gd name="adj" fmla="val 13333"/>
            </a:avLst>
          </a:prstGeom>
          <a:solidFill>
            <a:srgbClr val="FFF2F2"/>
          </a:solidFill>
          <a:ln w="14605">
            <a:solidFill>
              <a:srgbClr val="E45756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DA4AF53-01CC-9899-79CA-953CE16EBC07}"/>
              </a:ext>
            </a:extLst>
          </p:cNvPr>
          <p:cNvSpPr/>
          <p:nvPr/>
        </p:nvSpPr>
        <p:spPr>
          <a:xfrm>
            <a:off x="4233672" y="2624328"/>
            <a:ext cx="117043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ValueError</a:t>
            </a:r>
            <a:endParaRPr lang="en-US" sz="11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4F7BE159-9EEB-9E20-C049-D8CF46030025}"/>
              </a:ext>
            </a:extLst>
          </p:cNvPr>
          <p:cNvSpPr/>
          <p:nvPr/>
        </p:nvSpPr>
        <p:spPr>
          <a:xfrm>
            <a:off x="1810512" y="3529584"/>
            <a:ext cx="1225296" cy="676656"/>
          </a:xfrm>
          <a:prstGeom prst="diamond">
            <a:avLst/>
          </a:prstGeom>
          <a:solidFill>
            <a:srgbClr val="FFFFFF"/>
          </a:solidFill>
          <a:ln w="14605">
            <a:solidFill>
              <a:srgbClr val="246BFE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F8C15A4-5E96-F464-EC02-B5F1771F9AD0}"/>
              </a:ext>
            </a:extLst>
          </p:cNvPr>
          <p:cNvSpPr/>
          <p:nvPr/>
        </p:nvSpPr>
        <p:spPr>
          <a:xfrm>
            <a:off x="1938528" y="3639312"/>
            <a:ext cx="969264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= 0?</a:t>
            </a:r>
            <a:endParaRPr lang="en-US" sz="108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B7729AF-A2B4-E64C-203D-5DB948F7A425}"/>
              </a:ext>
            </a:extLst>
          </p:cNvPr>
          <p:cNvSpPr/>
          <p:nvPr/>
        </p:nvSpPr>
        <p:spPr>
          <a:xfrm>
            <a:off x="4160520" y="3566160"/>
            <a:ext cx="1316736" cy="548640"/>
          </a:xfrm>
          <a:prstGeom prst="roundRect">
            <a:avLst>
              <a:gd name="adj" fmla="val 13333"/>
            </a:avLst>
          </a:prstGeom>
          <a:solidFill>
            <a:srgbClr val="FFF2F2"/>
          </a:solidFill>
          <a:ln w="14605">
            <a:solidFill>
              <a:srgbClr val="E45756"/>
            </a:solidFill>
            <a:prstDash val="solid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752CE61-6BDA-46E1-019E-420E99C5CD3D}"/>
              </a:ext>
            </a:extLst>
          </p:cNvPr>
          <p:cNvSpPr/>
          <p:nvPr/>
        </p:nvSpPr>
        <p:spPr>
          <a:xfrm>
            <a:off x="4233672" y="3611880"/>
            <a:ext cx="117043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ValueError</a:t>
            </a:r>
            <a:endParaRPr lang="en-US" sz="115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08538323-E8A0-CF38-A361-A86C886C753B}"/>
              </a:ext>
            </a:extLst>
          </p:cNvPr>
          <p:cNvSpPr/>
          <p:nvPr/>
        </p:nvSpPr>
        <p:spPr>
          <a:xfrm>
            <a:off x="1719072" y="4498848"/>
            <a:ext cx="1408176" cy="512064"/>
          </a:xfrm>
          <a:prstGeom prst="roundRect">
            <a:avLst>
              <a:gd name="adj" fmla="val 14286"/>
            </a:avLst>
          </a:prstGeom>
          <a:solidFill>
            <a:srgbClr val="E8F1FF"/>
          </a:solidFill>
          <a:ln w="14605">
            <a:solidFill>
              <a:srgbClr val="246BFE"/>
            </a:solidFill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BCB54E3-B657-F1AC-08E8-36E5DCE90C3D}"/>
              </a:ext>
            </a:extLst>
          </p:cNvPr>
          <p:cNvSpPr/>
          <p:nvPr/>
        </p:nvSpPr>
        <p:spPr>
          <a:xfrm>
            <a:off x="1792224" y="4544568"/>
            <a:ext cx="1261872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calculează Δ</a:t>
            </a:r>
            <a:endParaRPr lang="en-US" sz="112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C0E9EF1E-2782-8A5C-32D8-178AF7AF3DAF}"/>
              </a:ext>
            </a:extLst>
          </p:cNvPr>
          <p:cNvSpPr/>
          <p:nvPr/>
        </p:nvSpPr>
        <p:spPr>
          <a:xfrm>
            <a:off x="4160520" y="4480560"/>
            <a:ext cx="1316736" cy="548640"/>
          </a:xfrm>
          <a:prstGeom prst="roundRect">
            <a:avLst>
              <a:gd name="adj" fmla="val 13333"/>
            </a:avLst>
          </a:prstGeom>
          <a:solidFill>
            <a:srgbClr val="E9FFF8"/>
          </a:solidFill>
          <a:ln w="14605">
            <a:solidFill>
              <a:srgbClr val="37D6C7"/>
            </a:solidFill>
            <a:prstDash val="solid"/>
          </a:ln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56AB660-9C81-91B8-F045-5C7ACB3046B7}"/>
              </a:ext>
            </a:extLst>
          </p:cNvPr>
          <p:cNvSpPr/>
          <p:nvPr/>
        </p:nvSpPr>
        <p:spPr>
          <a:xfrm>
            <a:off x="4233672" y="4526280"/>
            <a:ext cx="117043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ieșiri</a:t>
            </a:r>
            <a:endParaRPr lang="en-US" sz="115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0D2A9C2-64A1-D737-9E43-446DC732FD9D}"/>
              </a:ext>
            </a:extLst>
          </p:cNvPr>
          <p:cNvSpPr/>
          <p:nvPr/>
        </p:nvSpPr>
        <p:spPr>
          <a:xfrm>
            <a:off x="6400800" y="1965960"/>
            <a:ext cx="1444752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246BF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29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989DCCE-7C00-A159-5B2D-5BFF2661EFAC}"/>
              </a:ext>
            </a:extLst>
          </p:cNvPr>
          <p:cNvSpPr/>
          <p:nvPr/>
        </p:nvSpPr>
        <p:spPr>
          <a:xfrm>
            <a:off x="6400800" y="2505456"/>
            <a:ext cx="1444752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decizii principale</a:t>
            </a:r>
            <a:endParaRPr lang="en-US" sz="125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4ABA49BA-CEC4-1CA4-668C-03BBFA0E6E33}"/>
              </a:ext>
            </a:extLst>
          </p:cNvPr>
          <p:cNvSpPr/>
          <p:nvPr/>
        </p:nvSpPr>
        <p:spPr>
          <a:xfrm>
            <a:off x="8092440" y="1965960"/>
            <a:ext cx="201168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6D5DF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V(G)=5</a:t>
            </a:r>
            <a:endParaRPr lang="en-US" sz="29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693779DB-5DDB-B54E-589C-CC47825ACFEA}"/>
              </a:ext>
            </a:extLst>
          </p:cNvPr>
          <p:cNvSpPr/>
          <p:nvPr/>
        </p:nvSpPr>
        <p:spPr>
          <a:xfrm>
            <a:off x="8092440" y="2505456"/>
            <a:ext cx="201168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complexitate ciclomatică</a:t>
            </a:r>
            <a:endParaRPr lang="en-US" sz="125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D41B88C7-EFCC-516F-D2A3-9509E79700D1}"/>
              </a:ext>
            </a:extLst>
          </p:cNvPr>
          <p:cNvSpPr/>
          <p:nvPr/>
        </p:nvSpPr>
        <p:spPr>
          <a:xfrm>
            <a:off x="10241280" y="1965960"/>
            <a:ext cx="91440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FFC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29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EFD98431-5C1D-A82D-FADF-8F7EB1B7A4CA}"/>
              </a:ext>
            </a:extLst>
          </p:cNvPr>
          <p:cNvSpPr/>
          <p:nvPr/>
        </p:nvSpPr>
        <p:spPr>
          <a:xfrm>
            <a:off x="10241280" y="2505456"/>
            <a:ext cx="91440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85%" lnSpcReduction="10%"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drumuri independente</a:t>
            </a:r>
            <a:endParaRPr lang="en-US" sz="125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B9981EAE-8089-E180-6BA9-11DBDF4257B9}"/>
              </a:ext>
            </a:extLst>
          </p:cNvPr>
          <p:cNvSpPr/>
          <p:nvPr/>
        </p:nvSpPr>
        <p:spPr>
          <a:xfrm>
            <a:off x="6492240" y="3703320"/>
            <a:ext cx="44805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7E1EA"/>
            </a:solidFill>
            <a:prstDash val="solid"/>
          </a:ln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D189B7D5-43E5-AAB5-997F-A3CFB7B1529E}"/>
              </a:ext>
            </a:extLst>
          </p:cNvPr>
          <p:cNvSpPr/>
          <p:nvPr/>
        </p:nvSpPr>
        <p:spPr>
          <a:xfrm>
            <a:off x="6766560" y="3941064"/>
            <a:ext cx="39319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%"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7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Interpretare pentru prezentare</a:t>
            </a:r>
            <a:endParaRPr lang="en-US" sz="155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B00D8F8F-F0DE-EC8B-3C81-F30126F0475D}"/>
              </a:ext>
            </a:extLst>
          </p:cNvPr>
          <p:cNvSpPr/>
          <p:nvPr/>
        </p:nvSpPr>
        <p:spPr>
          <a:xfrm>
            <a:off x="6766560" y="4325112"/>
            <a:ext cx="38862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.5%" lnSpcReduction="20%"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Complexitatea 5 înseamnă că avem nevoie de minimum 5 drumuri independente pentru acoperire completă: eroare tip, a=0, Δ&lt;0, Δ=0, Δ&gt;0.</a:t>
            </a:r>
            <a:endParaRPr lang="en-US" sz="134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6087DEE2-4921-BB33-F47D-047842AFA590}"/>
              </a:ext>
            </a:extLst>
          </p:cNvPr>
          <p:cNvSpPr/>
          <p:nvPr/>
        </p:nvSpPr>
        <p:spPr>
          <a:xfrm>
            <a:off x="713232" y="5715000"/>
            <a:ext cx="10469880" cy="411480"/>
          </a:xfrm>
          <a:prstGeom prst="roundRect">
            <a:avLst>
              <a:gd name="adj" fmla="val 17778"/>
            </a:avLst>
          </a:prstGeom>
          <a:solidFill>
            <a:srgbClr val="EAF2FF"/>
          </a:solidFill>
          <a:ln w="6985">
            <a:solidFill>
              <a:srgbClr val="BCD3FF"/>
            </a:solidFill>
            <a:prstDash val="solid"/>
          </a:ln>
        </p:spPr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1C0A88DE-25D6-8E3B-AB82-379FB283A0E2}"/>
              </a:ext>
            </a:extLst>
          </p:cNvPr>
          <p:cNvSpPr/>
          <p:nvPr/>
        </p:nvSpPr>
        <p:spPr>
          <a:xfrm>
            <a:off x="914400" y="5797296"/>
            <a:ext cx="10058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%"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7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Mesaj-cheie: McCabe transformă structura codului într-un obiectiv concret de testare.</a:t>
            </a:r>
            <a:endParaRPr lang="en-US" sz="132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27BF2119-FFB3-6FAB-369E-11FB1791CF95}"/>
              </a:ext>
            </a:extLst>
          </p:cNvPr>
          <p:cNvSpPr/>
          <p:nvPr/>
        </p:nvSpPr>
        <p:spPr>
          <a:xfrm>
            <a:off x="11164824" y="62727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550280197"/>
      </p:ext>
    </p:extLst>
  </p:cSld>
  <p:clrMapOvr>
    <a:masterClrMapping/>
  </p:clrMapOvr>
</p:sld>
</file>

<file path=ppt/slides/slide10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15C2117-2292-6B9B-DD02-14DCEFE35A66}"/>
              </a:ext>
            </a:extLst>
          </p:cNvPr>
          <p:cNvSpPr/>
          <p:nvPr/>
        </p:nvSpPr>
        <p:spPr>
          <a:xfrm>
            <a:off x="594360" y="6364224"/>
            <a:ext cx="10972800" cy="0"/>
          </a:xfrm>
          <a:prstGeom prst="line">
            <a:avLst/>
          </a:prstGeom>
          <a:noFill/>
          <a:ln w="15875">
            <a:solidFill>
              <a:srgbClr val="246BFE">
                <a:alpha val="75%"/>
              </a:srgbClr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C826A75-D157-181B-119C-2C1D7D8E0780}"/>
              </a:ext>
            </a:extLst>
          </p:cNvPr>
          <p:cNvSpPr/>
          <p:nvPr/>
        </p:nvSpPr>
        <p:spPr>
          <a:xfrm>
            <a:off x="667512" y="310896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246B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DOVADA DE ACOPERIRE</a:t>
            </a:r>
            <a:endParaRPr lang="en-US" sz="93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C83E3B1-5ABD-8EBE-2F64-877CD189696D}"/>
              </a:ext>
            </a:extLst>
          </p:cNvPr>
          <p:cNvSpPr/>
          <p:nvPr/>
        </p:nvSpPr>
        <p:spPr>
          <a:xfrm>
            <a:off x="640080" y="786384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5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Raportul coverage.py</a:t>
            </a:r>
            <a:endParaRPr lang="en-US" sz="30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C70C2BB-76DB-1669-96A7-302F542F51A6}"/>
              </a:ext>
            </a:extLst>
          </p:cNvPr>
          <p:cNvSpPr/>
          <p:nvPr/>
        </p:nvSpPr>
        <p:spPr>
          <a:xfrm>
            <a:off x="749808" y="1417320"/>
            <a:ext cx="106984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 rulat testele cu coverage.py pentru a verifica instrucțiunile și ramurile executate.</a:t>
            </a:r>
            <a:endParaRPr lang="en-US" sz="18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30C25BF-5517-EA6C-3A8E-D7120E90AF76}"/>
              </a:ext>
            </a:extLst>
          </p:cNvPr>
          <p:cNvSpPr/>
          <p:nvPr/>
        </p:nvSpPr>
        <p:spPr>
          <a:xfrm>
            <a:off x="841248" y="1874520"/>
            <a:ext cx="5212080" cy="3154680"/>
          </a:xfrm>
          <a:prstGeom prst="roundRect">
            <a:avLst>
              <a:gd name="adj" fmla="val 2319"/>
            </a:avLst>
          </a:prstGeom>
          <a:solidFill>
            <a:srgbClr val="0C1728"/>
          </a:solidFill>
          <a:ln w="9525">
            <a:solidFill>
              <a:srgbClr val="14385C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2B5DBCB-7631-D0DF-4305-AA6A12A5B424}"/>
              </a:ext>
            </a:extLst>
          </p:cNvPr>
          <p:cNvSpPr/>
          <p:nvPr/>
        </p:nvSpPr>
        <p:spPr>
          <a:xfrm>
            <a:off x="1115568" y="2148840"/>
            <a:ext cx="4681728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E8F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coverage erase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E8F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coverage run --branch -m unittest test_equation_solver.py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E8F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coverage report -m</a:t>
            </a:r>
            <a:endParaRPr lang="en-US" sz="1040" dirty="0"/>
          </a:p>
          <a:p>
            <a:pPr marL="0" indent="0" algn="l">
              <a:buNone/>
            </a:pP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E8F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 22 tests in 0.007s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E8F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</a:t>
            </a:r>
            <a:endParaRPr lang="en-US" sz="1040" dirty="0"/>
          </a:p>
          <a:p>
            <a:pPr marL="0" indent="0" algn="l">
              <a:buNone/>
            </a:pP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E8F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               Stmts  Miss  Branch  Cover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E8F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equation_solver.py      23     0       8   100%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E8F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test_equation_solver.py 139    0       0   100%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E8F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                 162     0       8   100%</a:t>
            </a:r>
            <a:endParaRPr lang="en-US" sz="104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0ED16C6-F85C-CDB0-B54F-7F4CAE8DB0A9}"/>
              </a:ext>
            </a:extLst>
          </p:cNvPr>
          <p:cNvSpPr/>
          <p:nvPr/>
        </p:nvSpPr>
        <p:spPr>
          <a:xfrm>
            <a:off x="6446520" y="2148840"/>
            <a:ext cx="150876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2EAD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100%</a:t>
            </a:r>
            <a:endParaRPr lang="en-US" sz="29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749B3AC-4AD1-31E8-B8E7-453AED15B863}"/>
              </a:ext>
            </a:extLst>
          </p:cNvPr>
          <p:cNvSpPr/>
          <p:nvPr/>
        </p:nvSpPr>
        <p:spPr>
          <a:xfrm>
            <a:off x="6446520" y="2688336"/>
            <a:ext cx="150876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acoperire totală</a:t>
            </a:r>
            <a:endParaRPr lang="en-US" sz="12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4FF22CD-6187-74B6-566B-45AD9E788E5E}"/>
              </a:ext>
            </a:extLst>
          </p:cNvPr>
          <p:cNvSpPr/>
          <p:nvPr/>
        </p:nvSpPr>
        <p:spPr>
          <a:xfrm>
            <a:off x="8321040" y="2148840"/>
            <a:ext cx="114300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246BF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9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B83B1C4-7328-CB51-123E-6603E1BD4F72}"/>
              </a:ext>
            </a:extLst>
          </p:cNvPr>
          <p:cNvSpPr/>
          <p:nvPr/>
        </p:nvSpPr>
        <p:spPr>
          <a:xfrm>
            <a:off x="8321040" y="2688336"/>
            <a:ext cx="114300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linii lipsă</a:t>
            </a:r>
            <a:endParaRPr lang="en-US" sz="12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0852858-5166-291C-BA45-BEA4ED4D37F0}"/>
              </a:ext>
            </a:extLst>
          </p:cNvPr>
          <p:cNvSpPr/>
          <p:nvPr/>
        </p:nvSpPr>
        <p:spPr>
          <a:xfrm>
            <a:off x="10104120" y="2148840"/>
            <a:ext cx="96012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6D5DF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</a:t>
            </a:r>
            <a:endParaRPr lang="en-US" sz="29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1B43250-A5DF-9074-B9C7-D2C4BBDF2B12}"/>
              </a:ext>
            </a:extLst>
          </p:cNvPr>
          <p:cNvSpPr/>
          <p:nvPr/>
        </p:nvSpPr>
        <p:spPr>
          <a:xfrm>
            <a:off x="10104120" y="2688336"/>
            <a:ext cx="96012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ramuri verificate</a:t>
            </a:r>
            <a:endParaRPr lang="en-US" sz="12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DBCEA9D-B4CA-AC39-C78B-BBEEC3CC0676}"/>
              </a:ext>
            </a:extLst>
          </p:cNvPr>
          <p:cNvSpPr/>
          <p:nvPr/>
        </p:nvSpPr>
        <p:spPr>
          <a:xfrm>
            <a:off x="6537960" y="3886200"/>
            <a:ext cx="452628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9525">
            <a:solidFill>
              <a:srgbClr val="D7E1EA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60C5723-BB4D-777D-DEA9-CFFE3F94DF5D}"/>
              </a:ext>
            </a:extLst>
          </p:cNvPr>
          <p:cNvSpPr/>
          <p:nvPr/>
        </p:nvSpPr>
        <p:spPr>
          <a:xfrm>
            <a:off x="6812280" y="4096512"/>
            <a:ext cx="2560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%"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7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 interpretăm corect?</a:t>
            </a:r>
            <a:endParaRPr lang="en-US" sz="15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4EB669A-880C-DD7D-705D-CAFDB1364547}"/>
              </a:ext>
            </a:extLst>
          </p:cNvPr>
          <p:cNvSpPr/>
          <p:nvPr/>
        </p:nvSpPr>
        <p:spPr>
          <a:xfrm>
            <a:off x="6812280" y="4407408"/>
            <a:ext cx="39319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77.5%" lnSpcReduction="20%"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Coverage-ul confirmă că am executat codul, dar nu dovedește singur că testele detectează orice greșeală. De aceea urmează mutation testing.</a:t>
            </a:r>
            <a:endParaRPr lang="en-US" sz="127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D10E7C60-7CD6-F904-0412-0CBE3D2A68BC}"/>
              </a:ext>
            </a:extLst>
          </p:cNvPr>
          <p:cNvSpPr/>
          <p:nvPr/>
        </p:nvSpPr>
        <p:spPr>
          <a:xfrm>
            <a:off x="713232" y="5715000"/>
            <a:ext cx="10469880" cy="411480"/>
          </a:xfrm>
          <a:prstGeom prst="roundRect">
            <a:avLst>
              <a:gd name="adj" fmla="val 17778"/>
            </a:avLst>
          </a:prstGeom>
          <a:solidFill>
            <a:srgbClr val="EAF2FF"/>
          </a:solidFill>
          <a:ln w="6985">
            <a:solidFill>
              <a:srgbClr val="BCD3FF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8713D7E-A9C7-EB9E-2C50-8E28DF21D740}"/>
              </a:ext>
            </a:extLst>
          </p:cNvPr>
          <p:cNvSpPr/>
          <p:nvPr/>
        </p:nvSpPr>
        <p:spPr>
          <a:xfrm>
            <a:off x="914400" y="5797296"/>
            <a:ext cx="10058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%"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7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Mesaj-cheie: 100% coverage este o dovadă bună, dar nu este finalul analizei.</a:t>
            </a:r>
            <a:endParaRPr lang="en-US" sz="132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9417735-9D46-D5D2-E559-DAEADFB793C9}"/>
              </a:ext>
            </a:extLst>
          </p:cNvPr>
          <p:cNvSpPr/>
          <p:nvPr/>
        </p:nvSpPr>
        <p:spPr>
          <a:xfrm>
            <a:off x="11164824" y="62727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730864332"/>
      </p:ext>
    </p:extLst>
  </p:cSld>
  <p:clrMapOvr>
    <a:masterClrMapping/>
  </p:clrMapOvr>
</p:sld>
</file>

<file path=ppt/slides/slide11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58892147-7699-B52B-7073-98D6F3B9A5C2}"/>
              </a:ext>
            </a:extLst>
          </p:cNvPr>
          <p:cNvSpPr/>
          <p:nvPr/>
        </p:nvSpPr>
        <p:spPr>
          <a:xfrm>
            <a:off x="594360" y="6364224"/>
            <a:ext cx="10972800" cy="0"/>
          </a:xfrm>
          <a:prstGeom prst="line">
            <a:avLst/>
          </a:prstGeom>
          <a:noFill/>
          <a:ln w="15875">
            <a:solidFill>
              <a:srgbClr val="246BFE">
                <a:alpha val="75%"/>
              </a:srgbClr>
            </a:solidFill>
            <a:prstDash val="solid"/>
          </a:ln>
        </p:spPr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C6041CF4-D054-8B93-52AF-A3C4B76883A9}"/>
              </a:ext>
            </a:extLst>
          </p:cNvPr>
          <p:cNvSpPr/>
          <p:nvPr/>
        </p:nvSpPr>
        <p:spPr>
          <a:xfrm>
            <a:off x="667512" y="310896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246B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COSMIC RAY</a:t>
            </a:r>
            <a:endParaRPr lang="en-US" sz="93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39F128EC-F775-ABA0-AF9E-3732F91210CE}"/>
              </a:ext>
            </a:extLst>
          </p:cNvPr>
          <p:cNvSpPr/>
          <p:nvPr/>
        </p:nvSpPr>
        <p:spPr>
          <a:xfrm>
            <a:off x="640080" y="786384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5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Testare pe mutanți</a:t>
            </a:r>
            <a:endParaRPr lang="en-US" sz="305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7B3E0F7A-A9DE-701B-AC15-5D180D1CEC0A}"/>
              </a:ext>
            </a:extLst>
          </p:cNvPr>
          <p:cNvSpPr/>
          <p:nvPr/>
        </p:nvSpPr>
        <p:spPr>
          <a:xfrm>
            <a:off x="749808" y="1417320"/>
            <a:ext cx="107899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.5%"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Mutation testing verifică dacă testele sunt suficient de puternice pentru a detecta modificări greșite ale logicii.</a:t>
            </a:r>
            <a:endParaRPr lang="en-US" sz="185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98F84175-4D43-0F11-97C8-E43EF2518B82}"/>
              </a:ext>
            </a:extLst>
          </p:cNvPr>
          <p:cNvSpPr/>
          <p:nvPr/>
        </p:nvSpPr>
        <p:spPr>
          <a:xfrm>
            <a:off x="914400" y="1956816"/>
            <a:ext cx="42976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%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7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Mutation score brut</a:t>
            </a:r>
            <a:endParaRPr lang="en-US" sz="1800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20DFD226-FABA-BBCF-1F87-031C33678579}"/>
              </a:ext>
            </a:extLst>
          </p:cNvPr>
          <p:cNvSpPr/>
          <p:nvPr/>
        </p:nvSpPr>
        <p:spPr>
          <a:xfrm>
            <a:off x="914400" y="2450592"/>
            <a:ext cx="6812280" cy="420624"/>
          </a:xfrm>
          <a:prstGeom prst="roundRect">
            <a:avLst>
              <a:gd name="adj" fmla="val 17391"/>
            </a:avLst>
          </a:prstGeom>
          <a:solidFill>
            <a:srgbClr val="DDE7F0"/>
          </a:solidFill>
          <a:ln w="12700">
            <a:solidFill>
              <a:srgbClr val="DDE7F0">
                <a:alpha val="0%"/>
              </a:srgbClr>
            </a:solidFill>
            <a:prstDash val="solid"/>
          </a:ln>
        </p:spPr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9F9AE4DF-A02E-C4F2-16A5-14328F4F4B4A}"/>
              </a:ext>
            </a:extLst>
          </p:cNvPr>
          <p:cNvSpPr/>
          <p:nvPr/>
        </p:nvSpPr>
        <p:spPr>
          <a:xfrm>
            <a:off x="914400" y="2450592"/>
            <a:ext cx="6547104" cy="420624"/>
          </a:xfrm>
          <a:prstGeom prst="roundRect">
            <a:avLst>
              <a:gd name="adj" fmla="val 17391"/>
            </a:avLst>
          </a:prstGeom>
          <a:solidFill>
            <a:srgbClr val="2EAD67"/>
          </a:solidFill>
          <a:ln w="12700">
            <a:solidFill>
              <a:srgbClr val="2EAD67">
                <a:alpha val="0%"/>
              </a:srgbClr>
            </a:solidFill>
            <a:prstDash val="solid"/>
          </a:ln>
        </p:spPr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143FBCF1-7CA8-3ED1-D047-9AEF5C6DB0D5}"/>
              </a:ext>
            </a:extLst>
          </p:cNvPr>
          <p:cNvSpPr/>
          <p:nvPr/>
        </p:nvSpPr>
        <p:spPr>
          <a:xfrm>
            <a:off x="7982712" y="2350008"/>
            <a:ext cx="182880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EAD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96,15%</a:t>
            </a:r>
            <a:endParaRPr lang="en-US" sz="28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4AF45BFD-288E-25F5-0973-EC163E79887B}"/>
              </a:ext>
            </a:extLst>
          </p:cNvPr>
          <p:cNvSpPr/>
          <p:nvPr/>
        </p:nvSpPr>
        <p:spPr>
          <a:xfrm>
            <a:off x="1051560" y="3611880"/>
            <a:ext cx="160020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246BF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234</a:t>
            </a:r>
            <a:endParaRPr lang="en-US" sz="29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798FBDD3-DE9F-CB34-18E9-84E62E543D42}"/>
              </a:ext>
            </a:extLst>
          </p:cNvPr>
          <p:cNvSpPr/>
          <p:nvPr/>
        </p:nvSpPr>
        <p:spPr>
          <a:xfrm>
            <a:off x="1051560" y="4151376"/>
            <a:ext cx="160020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mutanți generați</a:t>
            </a:r>
            <a:endParaRPr lang="en-US" sz="125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3C932A0F-F8FD-D738-4643-4AB0AA3F891C}"/>
              </a:ext>
            </a:extLst>
          </p:cNvPr>
          <p:cNvSpPr/>
          <p:nvPr/>
        </p:nvSpPr>
        <p:spPr>
          <a:xfrm>
            <a:off x="3200400" y="3611880"/>
            <a:ext cx="160020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2EAD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225</a:t>
            </a:r>
            <a:endParaRPr lang="en-US" sz="290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2CB308F9-AAF5-5300-F996-D1994E490CD4}"/>
              </a:ext>
            </a:extLst>
          </p:cNvPr>
          <p:cNvSpPr/>
          <p:nvPr/>
        </p:nvSpPr>
        <p:spPr>
          <a:xfrm>
            <a:off x="3200400" y="4151376"/>
            <a:ext cx="160020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mutanți omorâți</a:t>
            </a:r>
            <a:endParaRPr lang="en-US" sz="125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14B81732-0A1E-29D3-2ABA-694C701756CF}"/>
              </a:ext>
            </a:extLst>
          </p:cNvPr>
          <p:cNvSpPr/>
          <p:nvPr/>
        </p:nvSpPr>
        <p:spPr>
          <a:xfrm>
            <a:off x="5349240" y="3611880"/>
            <a:ext cx="173736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FFC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</a:t>
            </a:r>
            <a:endParaRPr lang="en-US" sz="290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667FC0E9-1D18-D54D-5709-FE969F969E85}"/>
              </a:ext>
            </a:extLst>
          </p:cNvPr>
          <p:cNvSpPr/>
          <p:nvPr/>
        </p:nvSpPr>
        <p:spPr>
          <a:xfrm>
            <a:off x="5349240" y="4151376"/>
            <a:ext cx="173736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mutanți supraviețuitori</a:t>
            </a:r>
            <a:endParaRPr lang="en-US" sz="1250" dirty="0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C10FBAA2-F80D-2187-CFF6-6AE52320A499}"/>
              </a:ext>
            </a:extLst>
          </p:cNvPr>
          <p:cNvSpPr/>
          <p:nvPr/>
        </p:nvSpPr>
        <p:spPr>
          <a:xfrm>
            <a:off x="7818120" y="3456432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7E1EA"/>
            </a:solidFill>
            <a:prstDash val="solid"/>
          </a:ln>
        </p:spPr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4B41025C-EF8E-A81D-CEF8-96F0654B3417}"/>
              </a:ext>
            </a:extLst>
          </p:cNvPr>
          <p:cNvSpPr/>
          <p:nvPr/>
        </p:nvSpPr>
        <p:spPr>
          <a:xfrm>
            <a:off x="8101584" y="3675888"/>
            <a:ext cx="28346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%"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7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Supraviețuitorii</a:t>
            </a:r>
            <a:endParaRPr lang="en-US" sz="155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057B4CB3-C72E-5F63-4010-A9B062DD4790}"/>
              </a:ext>
            </a:extLst>
          </p:cNvPr>
          <p:cNvSpPr/>
          <p:nvPr/>
        </p:nvSpPr>
        <p:spPr>
          <a:xfrm>
            <a:off x="8101584" y="4023360"/>
            <a:ext cx="285292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85%" lnSpcReduction="10%"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 înseamnă automat defecte. Pot fi mutanți echivalenți sau cazuri unde valorile alese nu diferențiază suficient formulele.</a:t>
            </a:r>
            <a:endParaRPr lang="en-US" sz="1260" dirty="0"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03A15813-64E8-E545-9AF6-501AECA98510}"/>
              </a:ext>
            </a:extLst>
          </p:cNvPr>
          <p:cNvSpPr/>
          <p:nvPr/>
        </p:nvSpPr>
        <p:spPr>
          <a:xfrm>
            <a:off x="713232" y="5715000"/>
            <a:ext cx="10469880" cy="411480"/>
          </a:xfrm>
          <a:prstGeom prst="roundRect">
            <a:avLst>
              <a:gd name="adj" fmla="val 17778"/>
            </a:avLst>
          </a:prstGeom>
          <a:solidFill>
            <a:srgbClr val="EAF2FF"/>
          </a:solidFill>
          <a:ln w="6985">
            <a:solidFill>
              <a:srgbClr val="BCD3FF"/>
            </a:solidFill>
            <a:prstDash val="solid"/>
          </a:ln>
        </p:spPr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05DA1CD8-D309-D548-611B-F41D04E01D47}"/>
              </a:ext>
            </a:extLst>
          </p:cNvPr>
          <p:cNvSpPr/>
          <p:nvPr/>
        </p:nvSpPr>
        <p:spPr>
          <a:xfrm>
            <a:off x="914400" y="5797296"/>
            <a:ext cx="10058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%"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7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Mesaj-cheie: mutation testing arată calitatea testelor, nu doar faptul că liniile au fost executate.</a:t>
            </a:r>
            <a:endParaRPr lang="en-US" sz="1320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A1F4BA67-8AF0-8312-EDBF-5F79DB09A518}"/>
              </a:ext>
            </a:extLst>
          </p:cNvPr>
          <p:cNvSpPr/>
          <p:nvPr/>
        </p:nvSpPr>
        <p:spPr>
          <a:xfrm>
            <a:off x="11164824" y="62727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887657122"/>
      </p:ext>
    </p:extLst>
  </p:cSld>
  <p:clrMapOvr>
    <a:masterClrMapping/>
  </p:clrMapOvr>
</p:sld>
</file>

<file path=ppt/slides/slide12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51CAC3C-135A-5947-AADF-2AB955C76A37}"/>
              </a:ext>
            </a:extLst>
          </p:cNvPr>
          <p:cNvSpPr/>
          <p:nvPr/>
        </p:nvSpPr>
        <p:spPr>
          <a:xfrm>
            <a:off x="594360" y="6364224"/>
            <a:ext cx="10972800" cy="0"/>
          </a:xfrm>
          <a:prstGeom prst="line">
            <a:avLst/>
          </a:prstGeom>
          <a:noFill/>
          <a:ln w="15875">
            <a:solidFill>
              <a:srgbClr val="246BFE">
                <a:alpha val="75%"/>
              </a:srgbClr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E20A60-161E-5736-F0A8-33173899BE4A}"/>
              </a:ext>
            </a:extLst>
          </p:cNvPr>
          <p:cNvSpPr/>
          <p:nvPr/>
        </p:nvSpPr>
        <p:spPr>
          <a:xfrm>
            <a:off x="667512" y="310896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246B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ROL: ASISTENT, NU ÎNLOCUITOR</a:t>
            </a:r>
            <a:endParaRPr lang="en-US" sz="93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33ABE7E-2805-DE33-F487-40E1D91D88AD}"/>
              </a:ext>
            </a:extLst>
          </p:cNvPr>
          <p:cNvSpPr/>
          <p:nvPr/>
        </p:nvSpPr>
        <p:spPr>
          <a:xfrm>
            <a:off x="640080" y="786384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50" b="1" dirty="0">
                <a:solidFill>
                  <a:srgbClr val="071B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Utilizarea AI pentru generarea testelor</a:t>
            </a:r>
            <a:endParaRPr lang="en-US" sz="30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B228079-7256-AB6F-3E91-A7B7DD97CC5A}"/>
              </a:ext>
            </a:extLst>
          </p:cNvPr>
          <p:cNvSpPr/>
          <p:nvPr/>
        </p:nvSpPr>
        <p:spPr>
          <a:xfrm>
            <a:off x="749808" y="1417320"/>
            <a:ext cx="106984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85%" lnSpcReduction="10%"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AI-ul a generat o clasă unittest completă, iar noi am verificat dacă rezultatul corespunde cerințelor proiectului.</a:t>
            </a:r>
            <a:endParaRPr lang="en-US" sz="18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10DAA5C-898A-DED3-B59C-1C6DC9D7B7C9}"/>
              </a:ext>
            </a:extLst>
          </p:cNvPr>
          <p:cNvSpPr/>
          <p:nvPr/>
        </p:nvSpPr>
        <p:spPr>
          <a:xfrm>
            <a:off x="868680" y="1901952"/>
            <a:ext cx="4800600" cy="3044952"/>
          </a:xfrm>
          <a:prstGeom prst="roundRect">
            <a:avLst>
              <a:gd name="adj" fmla="val 2402"/>
            </a:avLst>
          </a:prstGeom>
          <a:solidFill>
            <a:srgbClr val="F0FFF8"/>
          </a:solidFill>
          <a:ln w="9525">
            <a:solidFill>
              <a:srgbClr val="B7EAD6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4AD2D5D-907A-8DD8-1BF5-FEB3BB731912}"/>
              </a:ext>
            </a:extLst>
          </p:cNvPr>
          <p:cNvSpPr/>
          <p:nvPr/>
        </p:nvSpPr>
        <p:spPr>
          <a:xfrm>
            <a:off x="6446520" y="1901952"/>
            <a:ext cx="4800600" cy="3044952"/>
          </a:xfrm>
          <a:prstGeom prst="roundRect">
            <a:avLst>
              <a:gd name="adj" fmla="val 2402"/>
            </a:avLst>
          </a:prstGeom>
          <a:solidFill>
            <a:srgbClr val="FFF7F7"/>
          </a:solidFill>
          <a:ln w="9525">
            <a:solidFill>
              <a:srgbClr val="F2C4C4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CB3C6AC-0C6B-99CE-C197-C981F0BD9218}"/>
              </a:ext>
            </a:extLst>
          </p:cNvPr>
          <p:cNvSpPr/>
          <p:nvPr/>
        </p:nvSpPr>
        <p:spPr>
          <a:xfrm>
            <a:off x="1124712" y="2157984"/>
            <a:ext cx="4297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%"/>
          </a:bodyPr>
          <a:lstStyle/>
          <a:p>
            <a:pPr marL="0" indent="0" algn="l">
              <a:buNone/>
            </a:pPr>
            <a:r>
              <a:rPr lang="en-US" sz="1720" b="1" dirty="0">
                <a:solidFill>
                  <a:srgbClr val="2EAD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a acoperit bine</a:t>
            </a:r>
            <a:endParaRPr lang="en-US" sz="172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D5F30CC-3D15-330D-8F09-653E7517AC3D}"/>
              </a:ext>
            </a:extLst>
          </p:cNvPr>
          <p:cNvSpPr/>
          <p:nvPr/>
        </p:nvSpPr>
        <p:spPr>
          <a:xfrm>
            <a:off x="1161288" y="2816352"/>
            <a:ext cx="77724" cy="77724"/>
          </a:xfrm>
          <a:prstGeom prst="ellipse">
            <a:avLst/>
          </a:prstGeom>
          <a:solidFill>
            <a:srgbClr val="2EAD67"/>
          </a:solidFill>
          <a:ln w="12700">
            <a:solidFill>
              <a:srgbClr val="2EAD67">
                <a:alpha val="0%"/>
              </a:srgbClr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2DC67FF-44C7-6E2E-1FC8-E2A52CCB24F1}"/>
              </a:ext>
            </a:extLst>
          </p:cNvPr>
          <p:cNvSpPr/>
          <p:nvPr/>
        </p:nvSpPr>
        <p:spPr>
          <a:xfrm>
            <a:off x="1316736" y="2706624"/>
            <a:ext cx="400507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statement / branch / condition coverage</a:t>
            </a:r>
            <a:endParaRPr lang="en-US" sz="138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94C40A0-E2C8-8271-4CB6-907DD9DF7D71}"/>
              </a:ext>
            </a:extLst>
          </p:cNvPr>
          <p:cNvSpPr/>
          <p:nvPr/>
        </p:nvSpPr>
        <p:spPr>
          <a:xfrm>
            <a:off x="1161288" y="3264408"/>
            <a:ext cx="77724" cy="77724"/>
          </a:xfrm>
          <a:prstGeom prst="ellipse">
            <a:avLst/>
          </a:prstGeom>
          <a:solidFill>
            <a:srgbClr val="2EAD67"/>
          </a:solidFill>
          <a:ln w="12700">
            <a:solidFill>
              <a:srgbClr val="2EAD67">
                <a:alpha val="0%"/>
              </a:srgbClr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18E905A-9465-405A-7620-83E02B8E9107}"/>
              </a:ext>
            </a:extLst>
          </p:cNvPr>
          <p:cNvSpPr/>
          <p:nvPr/>
        </p:nvSpPr>
        <p:spPr>
          <a:xfrm>
            <a:off x="1316736" y="3154680"/>
            <a:ext cx="400507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valori de frontieră pentru a și Δ</a:t>
            </a:r>
            <a:endParaRPr lang="en-US" sz="138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2A879A9-4FCB-77BA-5152-AFBBC135515D}"/>
              </a:ext>
            </a:extLst>
          </p:cNvPr>
          <p:cNvSpPr/>
          <p:nvPr/>
        </p:nvSpPr>
        <p:spPr>
          <a:xfrm>
            <a:off x="1161288" y="3712464"/>
            <a:ext cx="77724" cy="77724"/>
          </a:xfrm>
          <a:prstGeom prst="ellipse">
            <a:avLst/>
          </a:prstGeom>
          <a:solidFill>
            <a:srgbClr val="2EAD67"/>
          </a:solidFill>
          <a:ln w="12700">
            <a:solidFill>
              <a:srgbClr val="2EAD67">
                <a:alpha val="0%"/>
              </a:srgbClr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68B83EE-28A9-B639-68E2-C4BF568365F6}"/>
              </a:ext>
            </a:extLst>
          </p:cNvPr>
          <p:cNvSpPr/>
          <p:nvPr/>
        </p:nvSpPr>
        <p:spPr>
          <a:xfrm>
            <a:off x="1316736" y="3602736"/>
            <a:ext cx="400507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 pentru tipuri invalide și bool</a:t>
            </a:r>
            <a:endParaRPr lang="en-US" sz="138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E44A43F-0C5E-D303-9923-4FC3235C3A5C}"/>
              </a:ext>
            </a:extLst>
          </p:cNvPr>
          <p:cNvSpPr/>
          <p:nvPr/>
        </p:nvSpPr>
        <p:spPr>
          <a:xfrm>
            <a:off x="1161288" y="4160520"/>
            <a:ext cx="77724" cy="77724"/>
          </a:xfrm>
          <a:prstGeom prst="ellipse">
            <a:avLst/>
          </a:prstGeom>
          <a:solidFill>
            <a:srgbClr val="2EAD67"/>
          </a:solidFill>
          <a:ln w="12700">
            <a:solidFill>
              <a:srgbClr val="2EAD67">
                <a:alpha val="0%"/>
              </a:srgbClr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A7D5388-A83F-0881-5B75-D685495D9088}"/>
              </a:ext>
            </a:extLst>
          </p:cNvPr>
          <p:cNvSpPr/>
          <p:nvPr/>
        </p:nvSpPr>
        <p:spPr>
          <a:xfrm>
            <a:off x="1316736" y="4050792"/>
            <a:ext cx="400507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verificare că solve() nu afișează în consolă</a:t>
            </a:r>
            <a:endParaRPr lang="en-US" sz="138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4862E12-D800-FBE4-E1F5-DCBF5DF1C290}"/>
              </a:ext>
            </a:extLst>
          </p:cNvPr>
          <p:cNvSpPr/>
          <p:nvPr/>
        </p:nvSpPr>
        <p:spPr>
          <a:xfrm>
            <a:off x="6702552" y="2157984"/>
            <a:ext cx="4297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%"/>
          </a:bodyPr>
          <a:lstStyle/>
          <a:p>
            <a:pPr marL="0" indent="0" algn="l">
              <a:buNone/>
            </a:pPr>
            <a:r>
              <a:rPr lang="en-US" sz="1720" b="1" dirty="0">
                <a:solidFill>
                  <a:srgbClr val="E457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am verificat manual</a:t>
            </a:r>
            <a:endParaRPr lang="en-US" sz="172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191990DA-7370-1F91-0553-0F6BB25DA496}"/>
              </a:ext>
            </a:extLst>
          </p:cNvPr>
          <p:cNvSpPr/>
          <p:nvPr/>
        </p:nvSpPr>
        <p:spPr>
          <a:xfrm>
            <a:off x="6739128" y="2816352"/>
            <a:ext cx="77724" cy="77724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>
                <a:alpha val="0%"/>
              </a:srgbClr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C1A4415-E095-C9AE-D389-1AA2A4FBD522}"/>
              </a:ext>
            </a:extLst>
          </p:cNvPr>
          <p:cNvSpPr/>
          <p:nvPr/>
        </p:nvSpPr>
        <p:spPr>
          <a:xfrm>
            <a:off x="6894576" y="2706624"/>
            <a:ext cx="400507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formulele și toleranțele numerice</a:t>
            </a:r>
            <a:endParaRPr lang="en-US" sz="138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DFB6CDA3-4088-AE64-823E-795270BB7D27}"/>
              </a:ext>
            </a:extLst>
          </p:cNvPr>
          <p:cNvSpPr/>
          <p:nvPr/>
        </p:nvSpPr>
        <p:spPr>
          <a:xfrm>
            <a:off x="6739128" y="3264408"/>
            <a:ext cx="77724" cy="77724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>
                <a:alpha val="0%"/>
              </a:srgbClr>
            </a:solidFill>
            <a:prstDash val="solid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70981C1-A80F-5C88-EDF5-8E76F9907E6D}"/>
              </a:ext>
            </a:extLst>
          </p:cNvPr>
          <p:cNvSpPr/>
          <p:nvPr/>
        </p:nvSpPr>
        <p:spPr>
          <a:xfrm>
            <a:off x="6894576" y="3154680"/>
            <a:ext cx="400507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redundanța testelor</a:t>
            </a:r>
            <a:endParaRPr lang="en-US" sz="138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465C9CB3-472C-0295-D8F7-A11939720149}"/>
              </a:ext>
            </a:extLst>
          </p:cNvPr>
          <p:cNvSpPr/>
          <p:nvPr/>
        </p:nvSpPr>
        <p:spPr>
          <a:xfrm>
            <a:off x="6739128" y="3712464"/>
            <a:ext cx="77724" cy="77724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>
                <a:alpha val="0%"/>
              </a:srgbClr>
            </a:solidFill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7A2FCEF-0B77-F9BB-9445-DA68DF25B9A5}"/>
              </a:ext>
            </a:extLst>
          </p:cNvPr>
          <p:cNvSpPr/>
          <p:nvPr/>
        </p:nvSpPr>
        <p:spPr>
          <a:xfrm>
            <a:off x="6894576" y="3602736"/>
            <a:ext cx="400507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interpretarea mutanților supraviețuitori</a:t>
            </a:r>
            <a:endParaRPr lang="en-US" sz="138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EC3D23EE-B91B-3C91-7C78-D7C4F1E772CB}"/>
              </a:ext>
            </a:extLst>
          </p:cNvPr>
          <p:cNvSpPr/>
          <p:nvPr/>
        </p:nvSpPr>
        <p:spPr>
          <a:xfrm>
            <a:off x="6739128" y="4160520"/>
            <a:ext cx="77724" cy="77724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>
                <a:alpha val="0%"/>
              </a:srgbClr>
            </a:solidFill>
            <a:prstDash val="solid"/>
          </a:ln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7386F9DE-37F2-56F5-9A80-30F298BEC28B}"/>
              </a:ext>
            </a:extLst>
          </p:cNvPr>
          <p:cNvSpPr/>
          <p:nvPr/>
        </p:nvSpPr>
        <p:spPr>
          <a:xfrm>
            <a:off x="6894576" y="4050792"/>
            <a:ext cx="400507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alinierea cu cerințele exacte ale temei</a:t>
            </a:r>
            <a:endParaRPr lang="en-US" sz="138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D56242B2-CE51-B8A0-5C63-EC9ADA3C13CF}"/>
              </a:ext>
            </a:extLst>
          </p:cNvPr>
          <p:cNvSpPr/>
          <p:nvPr/>
        </p:nvSpPr>
        <p:spPr>
          <a:xfrm>
            <a:off x="713232" y="5715000"/>
            <a:ext cx="10469880" cy="411480"/>
          </a:xfrm>
          <a:prstGeom prst="roundRect">
            <a:avLst>
              <a:gd name="adj" fmla="val 17778"/>
            </a:avLst>
          </a:prstGeom>
          <a:solidFill>
            <a:srgbClr val="EAF2FF"/>
          </a:solidFill>
          <a:ln w="6985">
            <a:solidFill>
              <a:srgbClr val="BCD3FF"/>
            </a:solidFill>
            <a:prstDash val="solid"/>
          </a:ln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96215264-DB27-9EC0-2BAC-FFE55432550D}"/>
              </a:ext>
            </a:extLst>
          </p:cNvPr>
          <p:cNvSpPr/>
          <p:nvPr/>
        </p:nvSpPr>
        <p:spPr>
          <a:xfrm>
            <a:off x="914400" y="5797296"/>
            <a:ext cx="10058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%"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7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Mesaj-cheie: AI-ul accelerează generarea, dar validarea rămâne responsabilitatea echipei.</a:t>
            </a:r>
            <a:endParaRPr lang="en-US" sz="132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4E24D140-8F4F-D91F-39BB-9D41F8DE7508}"/>
              </a:ext>
            </a:extLst>
          </p:cNvPr>
          <p:cNvSpPr/>
          <p:nvPr/>
        </p:nvSpPr>
        <p:spPr>
          <a:xfrm>
            <a:off x="11164824" y="62727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6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276808433"/>
      </p:ext>
    </p:extLst>
  </p:cSld>
  <p:clrMapOvr>
    <a:masterClrMapping/>
  </p:clrMapOvr>
</p:sld>
</file>

<file path=ppt/slides/slide13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304D0C1-F30E-CC92-161D-AC79B9E2C85F}"/>
              </a:ext>
            </a:extLst>
          </p:cNvPr>
          <p:cNvSpPr/>
          <p:nvPr/>
        </p:nvSpPr>
        <p:spPr>
          <a:xfrm>
            <a:off x="594360" y="6364224"/>
            <a:ext cx="10972800" cy="0"/>
          </a:xfrm>
          <a:prstGeom prst="line">
            <a:avLst/>
          </a:prstGeom>
          <a:noFill/>
          <a:ln w="15875">
            <a:solidFill>
              <a:srgbClr val="37D6C7">
                <a:alpha val="75%"/>
              </a:srgbClr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7E26D93-9F48-A8BF-0F3E-06638509A7BC}"/>
              </a:ext>
            </a:extLst>
          </p:cNvPr>
          <p:cNvSpPr/>
          <p:nvPr/>
        </p:nvSpPr>
        <p:spPr>
          <a:xfrm>
            <a:off x="749808" y="749808"/>
            <a:ext cx="502920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Concluzii</a:t>
            </a:r>
            <a:endParaRPr lang="en-US" sz="3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E1E3720-9C54-8ABE-C492-B2369DE288EE}"/>
              </a:ext>
            </a:extLst>
          </p:cNvPr>
          <p:cNvSpPr/>
          <p:nvPr/>
        </p:nvSpPr>
        <p:spPr>
          <a:xfrm>
            <a:off x="786384" y="1572768"/>
            <a:ext cx="1014984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.5%" lnSpcReduction="20%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9EA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 validat solverul prin patru perspective complementare: funcțională, structurală, pe mutanți și asistată de AI.</a:t>
            </a:r>
            <a:endParaRPr lang="en-US" sz="2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4FC5F00-2786-C351-2661-A77139552C7A}"/>
              </a:ext>
            </a:extLst>
          </p:cNvPr>
          <p:cNvSpPr/>
          <p:nvPr/>
        </p:nvSpPr>
        <p:spPr>
          <a:xfrm>
            <a:off x="841248" y="2450592"/>
            <a:ext cx="393192" cy="393192"/>
          </a:xfrm>
          <a:prstGeom prst="ellipse">
            <a:avLst/>
          </a:prstGeom>
          <a:solidFill>
            <a:srgbClr val="37D6C7"/>
          </a:solidFill>
          <a:ln w="12700">
            <a:solidFill>
              <a:srgbClr val="37D6C7">
                <a:alpha val="0%"/>
              </a:srgbClr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00FC9BA-6297-8539-15F8-7C20525D525B}"/>
              </a:ext>
            </a:extLst>
          </p:cNvPr>
          <p:cNvSpPr/>
          <p:nvPr/>
        </p:nvSpPr>
        <p:spPr>
          <a:xfrm>
            <a:off x="841248" y="2532888"/>
            <a:ext cx="393192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%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95CCAB2-59F5-69EB-1ADA-1BC6B7BE9FBA}"/>
              </a:ext>
            </a:extLst>
          </p:cNvPr>
          <p:cNvSpPr/>
          <p:nvPr/>
        </p:nvSpPr>
        <p:spPr>
          <a:xfrm>
            <a:off x="1444752" y="2441448"/>
            <a:ext cx="95097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CE, AVF și PC acoperă clasele, frontierele și combinațiile relevante.</a:t>
            </a:r>
            <a:endParaRPr lang="en-US" sz="17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BCB4DB6-0D75-2FE3-C8B9-FC98EF377E8A}"/>
              </a:ext>
            </a:extLst>
          </p:cNvPr>
          <p:cNvSpPr/>
          <p:nvPr/>
        </p:nvSpPr>
        <p:spPr>
          <a:xfrm>
            <a:off x="841248" y="3108960"/>
            <a:ext cx="393192" cy="393192"/>
          </a:xfrm>
          <a:prstGeom prst="ellipse">
            <a:avLst/>
          </a:prstGeom>
          <a:solidFill>
            <a:srgbClr val="246BFE"/>
          </a:solidFill>
          <a:ln w="12700">
            <a:solidFill>
              <a:srgbClr val="246BFE">
                <a:alpha val="0%"/>
              </a:srgbClr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F13C075-186E-32BC-28C3-3D778C006235}"/>
              </a:ext>
            </a:extLst>
          </p:cNvPr>
          <p:cNvSpPr/>
          <p:nvPr/>
        </p:nvSpPr>
        <p:spPr>
          <a:xfrm>
            <a:off x="841248" y="3191256"/>
            <a:ext cx="393192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%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CCFFC8D-7D64-EC9C-DC26-00BE51AEE57B}"/>
              </a:ext>
            </a:extLst>
          </p:cNvPr>
          <p:cNvSpPr/>
          <p:nvPr/>
        </p:nvSpPr>
        <p:spPr>
          <a:xfrm>
            <a:off x="1444752" y="3099816"/>
            <a:ext cx="95097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CFG + McCabe confirmă cele 5 drumuri independente ale metodei.</a:t>
            </a:r>
            <a:endParaRPr lang="en-US" sz="17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B08E0FE-7A00-5FE1-16E3-5191C456822A}"/>
              </a:ext>
            </a:extLst>
          </p:cNvPr>
          <p:cNvSpPr/>
          <p:nvPr/>
        </p:nvSpPr>
        <p:spPr>
          <a:xfrm>
            <a:off x="841248" y="3767328"/>
            <a:ext cx="393192" cy="393192"/>
          </a:xfrm>
          <a:prstGeom prst="ellipse">
            <a:avLst/>
          </a:prstGeom>
          <a:solidFill>
            <a:srgbClr val="6D5DFE"/>
          </a:solidFill>
          <a:ln w="12700">
            <a:solidFill>
              <a:srgbClr val="6D5DFE">
                <a:alpha val="0%"/>
              </a:srgbClr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5A237EA-A928-A584-0AD5-C3081EA0866C}"/>
              </a:ext>
            </a:extLst>
          </p:cNvPr>
          <p:cNvSpPr/>
          <p:nvPr/>
        </p:nvSpPr>
        <p:spPr>
          <a:xfrm>
            <a:off x="841248" y="3849624"/>
            <a:ext cx="393192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%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35EFB1A-9131-1C95-F1A3-E949EF10DAA8}"/>
              </a:ext>
            </a:extLst>
          </p:cNvPr>
          <p:cNvSpPr/>
          <p:nvPr/>
        </p:nvSpPr>
        <p:spPr>
          <a:xfrm>
            <a:off x="1444752" y="3758184"/>
            <a:ext cx="95097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coverage.py arată 100% acoperire pentru 22 de teste rulate.</a:t>
            </a:r>
            <a:endParaRPr lang="en-US" sz="17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9857664-8559-0760-C473-655878B25585}"/>
              </a:ext>
            </a:extLst>
          </p:cNvPr>
          <p:cNvSpPr/>
          <p:nvPr/>
        </p:nvSpPr>
        <p:spPr>
          <a:xfrm>
            <a:off x="841248" y="4425696"/>
            <a:ext cx="393192" cy="393192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>
                <a:alpha val="0%"/>
              </a:srgbClr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4E30758-50BB-11B4-DC0F-BDA3C01BB078}"/>
              </a:ext>
            </a:extLst>
          </p:cNvPr>
          <p:cNvSpPr/>
          <p:nvPr/>
        </p:nvSpPr>
        <p:spPr>
          <a:xfrm>
            <a:off x="841248" y="4507992"/>
            <a:ext cx="393192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%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A93A785-9EF1-8E76-6DDB-3E9EDFFDA275}"/>
              </a:ext>
            </a:extLst>
          </p:cNvPr>
          <p:cNvSpPr/>
          <p:nvPr/>
        </p:nvSpPr>
        <p:spPr>
          <a:xfrm>
            <a:off x="1444752" y="4416552"/>
            <a:ext cx="95097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Cosmic Ray obține 96,15% mutation score brut: 225/234 mutanți omorâți.</a:t>
            </a:r>
            <a:endParaRPr lang="en-US" sz="17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0A1E5BB4-AB24-6C55-3801-A3D2BD7E2C38}"/>
              </a:ext>
            </a:extLst>
          </p:cNvPr>
          <p:cNvSpPr/>
          <p:nvPr/>
        </p:nvSpPr>
        <p:spPr>
          <a:xfrm>
            <a:off x="841248" y="5084064"/>
            <a:ext cx="393192" cy="393192"/>
          </a:xfrm>
          <a:prstGeom prst="ellipse">
            <a:avLst/>
          </a:prstGeom>
          <a:solidFill>
            <a:srgbClr val="2EAD67"/>
          </a:solidFill>
          <a:ln w="12700">
            <a:solidFill>
              <a:srgbClr val="2EAD67">
                <a:alpha val="0%"/>
              </a:srgbClr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C562302-6D5B-3B9B-C6FD-A9E36DF0FF66}"/>
              </a:ext>
            </a:extLst>
          </p:cNvPr>
          <p:cNvSpPr/>
          <p:nvPr/>
        </p:nvSpPr>
        <p:spPr>
          <a:xfrm>
            <a:off x="841248" y="5166360"/>
            <a:ext cx="393192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%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98DF977-1177-7661-E547-613D6067FAAE}"/>
              </a:ext>
            </a:extLst>
          </p:cNvPr>
          <p:cNvSpPr/>
          <p:nvPr/>
        </p:nvSpPr>
        <p:spPr>
          <a:xfrm>
            <a:off x="1444752" y="5074920"/>
            <a:ext cx="95097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AI-ul este util pentru generare, dar rezultatele trebuie verificate critic.</a:t>
            </a:r>
            <a:endParaRPr lang="en-US" sz="17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F7C509B-32D5-BEE5-1458-4E9CA1A26B89}"/>
              </a:ext>
            </a:extLst>
          </p:cNvPr>
          <p:cNvSpPr/>
          <p:nvPr/>
        </p:nvSpPr>
        <p:spPr>
          <a:xfrm>
            <a:off x="8503920" y="5742432"/>
            <a:ext cx="24688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37D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Întrebări?</a:t>
            </a:r>
            <a:endParaRPr lang="en-US" sz="23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09D0B57A-6C6B-CD83-ACF9-BDB453CDEACA}"/>
              </a:ext>
            </a:extLst>
          </p:cNvPr>
          <p:cNvSpPr/>
          <p:nvPr/>
        </p:nvSpPr>
        <p:spPr>
          <a:xfrm>
            <a:off x="11164824" y="62727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D7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577897188"/>
      </p:ext>
    </p:extLst>
  </p:cSld>
  <p:clrMapOvr>
    <a:masterClrMapping/>
  </p:clrMapOvr>
</p:sld>
</file>

<file path=ppt/theme/theme1.xml><?xml version="1.0" encoding="utf-8"?>
<a:theme xmlns:a="http://purl.oclc.org/ooxml/drawingml/main" name="Wisp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%"/>
            <a:lumMod val="104%"/>
          </a:schemeClr>
        </a:solidFill>
        <a:gradFill rotWithShape="1">
          <a:gsLst>
            <a:gs pos="0%">
              <a:schemeClr val="phClr">
                <a:tint val="96%"/>
                <a:lumMod val="104%"/>
              </a:schemeClr>
            </a:gs>
            <a:gs pos="100%">
              <a:schemeClr val="phClr">
                <a:shade val="98%"/>
                <a:lumMod val="94%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%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%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%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90%"/>
                <a:lumMod val="120%"/>
              </a:schemeClr>
            </a:gs>
            <a:gs pos="100%">
              <a:schemeClr val="phClr">
                <a:shade val="98%"/>
                <a:satMod val="120%"/>
                <a:lumMod val="98%"/>
              </a:schemeClr>
            </a:gs>
          </a:gsLst>
          <a:lin ang="5400000" scaled="0"/>
        </a:gradFill>
        <a:gradFill rotWithShape="1">
          <a:gsLst>
            <a:gs pos="0%">
              <a:schemeClr val="phClr">
                <a:tint val="90%"/>
                <a:satMod val="92%"/>
                <a:lumMod val="120%"/>
              </a:schemeClr>
            </a:gs>
            <a:gs pos="100%">
              <a:schemeClr val="phClr">
                <a:shade val="98%"/>
                <a:satMod val="120%"/>
                <a:lumMod val="98%"/>
              </a:schemeClr>
            </a:gs>
          </a:gsLst>
          <a:path path="circle">
            <a:fillToRect l="50%" t="50%" r="100%" b="100%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purl.oclc.org/ooxml/officeDocument/extendedProperties" xmlns:vt="http://purl.oclc.org/ooxml/officeDocument/docPropsVTypes">
  <Template>Wisp</Template>
  <TotalTime>8</TotalTime>
  <Words>1351</Words>
  <Application>Microsoft Office PowerPoint</Application>
  <PresentationFormat>Widescreen</PresentationFormat>
  <Paragraphs>252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Century Gothic</vt:lpstr>
      <vt:lpstr>Consolas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ANAMARIA MARCOVICI</dc:creator>
  <cp:lastModifiedBy>ANAMARIA MARCOVICI</cp:lastModifiedBy>
  <cp:revision>1</cp:revision>
  <dcterms:created xsi:type="dcterms:W3CDTF">2026-05-17T20:47:45Z</dcterms:created>
  <dcterms:modified xsi:type="dcterms:W3CDTF">2026-05-17T20:56:03Z</dcterms:modified>
</cp:coreProperties>
</file>